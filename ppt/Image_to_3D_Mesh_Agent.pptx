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ck" id="{5438da46-5c31-9043-a329-1cdc1fe4483f}">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an Image-to-3D Mesh Agent: it turns one photo, or two to four views of an object, into a 3D mesh. It does this by orchestrating pretrained models, not by training a new one. I am Anshuman Rai; I built the core pipeline, agent orchestration and analytics. Anany Sharma built preprocessing, the interfaces, rendering and evaluation. Our guide is Prof. Kirti Sharma. The two images on the right are real captures from one run of our notebook, shown as they came out. We will be candid about what they show.
VIVA - 2D image vs 3D mesh: an image is a grid of pixels from one viewpoint; a mesh is vertices and faces describing the surface, viewable from any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a photo into a usable 3D asset is hard. A photo holds one viewpoint, so depth and the hidden side must be inferred. Manual modelling takes specialist skills and time. Extra views add geometric cues but still need a reconstruction step. Our project explores an automated inference pipeline built on pretrained 3D-generation models. We do not claim this removes manual modelling in every scenario.
VIVA - why is single-image reconstruction difficult? Many different 3D shapes produce the same photo, so the model has to guess the hidden surfaces. Why pretrained models? Training 3D generators needs large datasets and heavy compute that are beyond a student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set six objectives, and the notebook has code for each: accept one or more images; standardise them and check quality; choose an available pretrained backend; generate and compare candidate meshes; clean the chosen mesh and project colours from the photo; and give downloadable outputs and an evaluation report. The agent is the orchestration layer that connects these steps. Our engineering contribution is that layer, not a new 3D model.
VIVA - role of the orchestration layer? It decides the backend order from the number of views, generates and scores candidates, falls back when a result is weak, and handles memory and time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follows the notebook, cell by cell. Inputs come from an upload or the sample images in the Hunyuan repo. Preprocessing fixes EXIF orientation, removes the background, crops and centres, analyses quality and assigns views. The orchestration layer plans the backend order, generates candidates, applies the time budget and out-of-memory back-off, and picks the best. The three backends are conditional: they exist only if they imported and loaded. Evaluation scores silhouettes and cleans the mesh; after selection we orient it and project colour. Outputs are GLB, OBJ, STL, a preview, a JSON report and a ZIP. The Gradio interface and batch CSV are optional extras. There are no servers, databases or cloud APIs in this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accepts one image, or two to four views labelled front, left, back and right; labels come from filenames, otherwise upload order. Preprocessing runs rembg for background removal, with a simpler fallback that thresholds against the corner colour and keeps the largest blob. The object is cropped, scaled with an 8 percent margin and centred on a 512 by 512 transparent canvas. The analysis step warns about low resolution, blur, a tiny or oversized mask, and a fragmented mask. Why this matters: the generative models then receive a more standardised input. The fallback segmentation is not claimed to work on arbitrary images; busy backgrounds, low contrast and cropped objects can all hurt.
VIVA - why different models for single and multi-view? Hunyuan3D-2mv is the multi-view model; mini and TripoSR take one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an agent rather than one model call? Inputs differ, models may be missing, and a single generation can be poor. The flow: analyse and plan the backend chain; load a backend, skipping it if loading fails; generate a candidate for each seed; if CUDA runs out of memory, shrink the octree grid by 25 percent and halve the chunk size, up to three tries; clean the mesh and score its silhouette. If the best IoU reaches 0.85 the agent stops; otherwise it moves to the next backend, provided the 900 second soft time budget allows. If everything fails it raises an error. Fallback improves resilience in principle but cannot guarantee output.
VIVA - what if the GPU runs out of memory? The agent frees memory and retries with a coarser grid and smaller chunks; later seeds keep the lighter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is conditional. plan_chain builds the list from the number of views and from which backends actually imported. One view: Hunyuan3D-2mini, then TripoSR. Two to four views: Hunyuan3D-2mv first, then mini on the front view, then TripoSR on the front view. This table is qualitative. We are not ranking the models; no benchmark was run, and we make no claim that one is more accurate or faster. The orchestrator is useful because models support different inputs, a fallback helps when the preferred one is unavailable, and several candidates allow selection instead of accepting the first output.
VIVA - why route differently? Because multi-view cues need a multi-view model, and the single-view models ignore extra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inference only. The notebook loads pretrained weights from the Hugging Face hub and calls them; nothing is trained or fine-tuned. For Hunyuan3D the flow is: load the flow-matching diffusion-transformer pipeline, condition it on the preprocessed image, generate a shape with 5 steps in turbo mode or about 30 otherwise, extract a mesh with marching cubes at an octree resolution of 320, and return a trimesh. Runtime needs: Google Colab, a GPU, a weights download of roughly 5 GB per the notebook comment, about 5 to 8 minutes of installs, and enough VRAM; the notebook keeps one model on the GPU at a time. T4 is the target. We have not established timing on it.
VIVA - why not train from scratch? Cost and data. We contribute orchestration and evaluation around existing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Generative models are stochastic, so different random seeds give different meshes. The agent generates several candidates, scores each one's silhouette against the input mask, and keeps the highest. In code, single-view runs use 3 seeds, multi-view runs use 2, and TripoSR contributes one. These are configuration values, not optimised ones. Candidates from different backends are pooled when a fallback happens. A higher score only means the outline agrees better; it does not mean the whole object is right.
VIVA - why different seeds? Each seed samples a different plausible shape, so we get a choice. Selection raises the odds of a good match; it does not guarantee a correct reconstruction.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IoU is intersection over union of two binary silhouettes: the input photo's mask and the mesh's rendered outline. In the diagram, violet is the target and cyan is the render; the overlap is the intersection. The notebook normalises both masks to 128 by 128 by cropping to the bounding box, so scale and position are ignored. Because the mesh pose is unknown it tries 24 axis-aligned camera poses and keeps the best; for multi-view it assigns distinct directions to each view and averages. Limits: best-of-24 selection and orthographic rendering against a perspective photo make the score optimistic; hidden surfaces, depth, topology, texture and semantics are not measured. The 0.85 threshold is an implementation parameter, not a validated standard.
VIVA - what does IoU measure, and why is it not full 3D accuracy? It measures outline overlap from one projection only; two different 3D shapes can share a silhouette.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candidate is generated, clean_mesh drops degenerate faces and unused vertices, removes floating fragments smaller than 3 percent of the largest component, fills holes and fixes normals where it can, decimates to at most 80,000 faces with a quadric method, and centres and scales the mesh to unit size. After a candidate is selected we orient it so the input camera looks down the negative Z axis, and project colours. Repair is best effort. The 80,000-face cap is a configured target to keep files manageable; we do not claim every mesh meets it or is production-ready. The schematic is not a before-and-after of real meshes.
VIVA - mesh cleanup vs mesh generation? Generation creates the raw surface; cleanup repairs and simplifies it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projection paints each vertex that the photo's camera can see directly from the photo. Hidden vertices keep the model's own colour if it has one, otherwise take the nearest visible vertex's colour. So unseen surfaces get approximate colour, and this is not a physically accurate material. The strip shows the preview sheet from one run: the cut-out input, then four orbit views. The dotted look comes from our software point-splat preview renderer, not necessarily from the mesh. The two captures are the interactive viewer for the same mesh. In this single example the colour is blotchy and the mesh looks tilted relative to the upright input, so orientation recovery and colour projection need work. We show this as it came out, not as a validated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is written to export these files. GLB holds geometry and the vertex colours. OBJ and STL are written from a colourless copy of the mesh in the code, so they carry geometry only. STL is a geometry-oriented format common in 3D printing. The PNG is the preview sheet, and the JSON report records the backend, seed, per-view IoU, face counts, candidates, warnings and time. The batch function writes evaluation.csv and cell 9 zips everything. These describe the code; we do not claim every file has been produced on every run.
VIVA - why export GLB, OBJ and STL? Different tools expect different formats: GLB for viewers and web, OBJ for interchange, STL for printing.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paths. In Colab you pick a source, run the agent, read any quality warnings, review the selected candidate and its score, view the preview and the interactive 3D model, and download files. The optional Gradio app needs a front image, accepts left, back and right views, and returns a 3D viewer, the preview and downloads. Important: the code launches Gradio with share equals True, which creates a public link, so avoid sensitive images and do not treat it as a secure deployment. Because the Gradio runtime has not been demonstrated, this is the designed flow rather than a verified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batch function walks a test folder. A loose image is a single-view test; a sub-folder of up to four views is a multi-view test. For each object it runs the agent, catches failures as FAILED rows, and writes a CSV with the object, mode, backend, silhouette IoU, face count, seconds and warnings, plus mean IoU by mode. This helps judge reliability across objects. But it uses silhouette IoU and run metadata only, so it does not establish 3D accuracy against ground-truth models. No evaluation dataset has been documented yet, so we report no dataset size, mean score, success rate or average runtime.
VIVA - how would you evaluate with ground-truth 3D models? Compare against reference meshes using Chamfer distance and F-score after alignment, which this notebook does not yet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separates what exists from what is verified. Preprocessing, analysis, pose recovery, scoring, colour projection, the agent loop with fake backends, and out-of-memory back-off were tested on synthetic data according to the notebook; that is component-level evidence, not end-to-end proof. We have one set of real outputs, the chair run, which shows a mesh and preview were produced at least once, but the backend, score and log for that run were not recorded. The saved notebook copy itself shows only a no-GPU error in cell 1. Limitations: reconstruction quality depends on the photo and backend; a single view cannot see hidden surfaces; IoU is a silhouette metric; cleanup and colour are best effort; GPU memory, dependencies and downloads can break a run.
VIVA - what is tested and what is not? Component logic on synthetic data and one observed output set; not a documented test set, timing, or ground-truth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items on the left are future work, not completed. The priorities: run the full notebook on a compatible GPU and save logs; test a documented set of single and multi-view images; compare backends under controlled conditions; evaluate single against multi-view; add ground-truth metrics if reference models exist; record memory, runtime, failure rate and mesh complexity; and improve segmentation, orientation and colour projection. In conclusion, the project proposes an automated pipeline that combines pretrained 3D generation, conditional backend selection, candidate scoring, mesh cleanup and export. Our contribution is the orchestration and evaluation around existing models, not a new 3D foundation model.
VIVA - what would you improve next? First, verified end-to-end runs with logs; then orientation recovery and colour projection, which the observed run shows are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we verified: the Hunyuan3D 2.0 paper and the TripoSR paper on arXiv, the official code repositories the notebook clones, and the main libraries. The Hunyuan3D-2mini and 2mv checkpoints are cited through the repository and model cards. Before any redistribution or commercial use, check each licence; the notebook notes that Hunyuan3D-2 uses the Tencent Hunyuan Community License with region restrictions and that TripoSR is MIT.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235440"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tx2"/>
                </a:solidFill>
              </a:rPr>
              <a:t>Image-to-3D Mesh Agent  |  KIET Deemed to be University</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5303520" cy="1371600"/>
          </a:xfrm>
          <a:prstGeom prst="rect">
            <a:avLst/>
          </a:prstGeom>
          <a:noFill/>
          <a:ln/>
        </p:spPr>
        <p:txBody>
          <a:bodyPr wrap="square" rtlCol="0"/>
          <a:lstStyle>
            <a:lvl1pPr algn="l" indent="0" marL="0">
              <a:buNone/>
              <a:defRPr lang="en-US" sz="3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5303520" cy="1371600"/>
          </a:xfrm>
          <a:prstGeom prst="rect">
            <a:avLst/>
          </a:prstGeom>
          <a:noFill/>
          <a:ln/>
        </p:spPr>
        <p:txBody>
          <a:bodyPr wrap="square" lIns="0" tIns="0" rIns="0" bIns="0" rtlCol="0" anchor="t"/>
          <a:lstStyle/>
          <a:p>
            <a:pPr algn="l" indent="0" marL="0">
              <a:buNone/>
            </a:pPr>
            <a:r>
              <a:rPr lang="en-US" sz="3800" b="1" dirty="0">
                <a:solidFill>
                  <a:schemeClr val="bg1"/>
                </a:solidFill>
                <a:latin typeface="Cambria" pitchFamily="34" charset="0"/>
                <a:ea typeface="Cambria" pitchFamily="34" charset="-122"/>
                <a:cs typeface="Cambria" pitchFamily="34" charset="-120"/>
              </a:rPr>
              <a:t>Image-to-3D Mesh Agent</a:t>
            </a:r>
            <a:endParaRPr lang="en-US" sz="3800" dirty="0"/>
          </a:p>
        </p:txBody>
      </p:sp>
      <p:sp>
        <p:nvSpPr>
          <p:cNvPr id="4" name="Text 1"/>
          <p:cNvSpPr txBox="1"/>
          <p:nvPr/>
        </p:nvSpPr>
        <p:spPr>
          <a:xfrm>
            <a:off x="548640" y="2148840"/>
            <a:ext cx="5669280" cy="822960"/>
          </a:xfrm>
          <a:prstGeom prst="rect">
            <a:avLst/>
          </a:prstGeom>
          <a:noFill/>
          <a:ln/>
        </p:spPr>
        <p:txBody>
          <a:bodyPr wrap="square" lIns="0" tIns="0" rIns="0" bIns="0" rtlCol="0" anchor="t"/>
          <a:lstStyle/>
          <a:p>
            <a:pPr indent="0" marL="0">
              <a:buNone/>
            </a:pPr>
            <a:r>
              <a:rPr lang="en-US" sz="2000" dirty="0">
                <a:solidFill>
                  <a:schemeClr val="accent2"/>
                </a:solidFill>
              </a:rPr>
              <a:t>Intelligent 3D Reconstruction from Single and Multiple Images</a:t>
            </a:r>
            <a:endParaRPr lang="en-US" sz="2000" dirty="0"/>
          </a:p>
        </p:txBody>
      </p:sp>
      <p:sp>
        <p:nvSpPr>
          <p:cNvPr id="5" name="Text 2"/>
          <p:cNvSpPr txBox="1"/>
          <p:nvPr/>
        </p:nvSpPr>
        <p:spPr>
          <a:xfrm>
            <a:off x="548640" y="3246120"/>
            <a:ext cx="5852160" cy="2377440"/>
          </a:xfrm>
          <a:prstGeom prst="rect">
            <a:avLst/>
          </a:prstGeom>
          <a:noFill/>
          <a:ln/>
        </p:spPr>
        <p:txBody>
          <a:bodyPr wrap="square" lIns="0" tIns="0" rIns="0" bIns="0" rtlCol="0" anchor="t"/>
          <a:lstStyle/>
          <a:p>
            <a:pPr indent="0" marL="0">
              <a:buNone/>
            </a:pPr>
            <a:r>
              <a:rPr lang="en-US" sz="1400" b="1" dirty="0">
                <a:solidFill>
                  <a:schemeClr val="bg1"/>
                </a:solidFill>
              </a:rPr>
              <a:t>Anshuman Rai (2400290120055)</a:t>
            </a:r>
            <a:endParaRPr lang="en-US" sz="1400" dirty="0"/>
          </a:p>
          <a:p>
            <a:pPr indent="0" marL="0">
              <a:spcAft>
                <a:spcPts val="800"/>
              </a:spcAft>
              <a:buNone/>
            </a:pPr>
            <a:r>
              <a:rPr lang="en-US" sz="1400" dirty="0">
                <a:solidFill>
                  <a:schemeClr val="bg1"/>
                </a:solidFill>
              </a:rPr>
              <a:t>Core ML Pipeline, Agent Orchestration &amp; Analytics</a:t>
            </a:r>
            <a:endParaRPr lang="en-US" sz="1400" dirty="0"/>
          </a:p>
          <a:p>
            <a:pPr indent="0" marL="0">
              <a:buNone/>
            </a:pPr>
            <a:r>
              <a:rPr lang="en-US" sz="1400" b="1" dirty="0">
                <a:solidFill>
                  <a:schemeClr val="bg1"/>
                </a:solidFill>
              </a:rPr>
              <a:t>Anany Sharma (2400290120043)</a:t>
            </a:r>
            <a:endParaRPr lang="en-US" sz="1400" dirty="0"/>
          </a:p>
          <a:p>
            <a:pPr indent="0" marL="0">
              <a:spcAft>
                <a:spcPts val="800"/>
              </a:spcAft>
              <a:buNone/>
            </a:pPr>
            <a:r>
              <a:rPr lang="en-US" sz="1400" dirty="0">
                <a:solidFill>
                  <a:schemeClr val="bg1"/>
                </a:solidFill>
              </a:rPr>
              <a:t>Preprocessing, Interactive Interfaces, Rendering &amp; Evaluation</a:t>
            </a:r>
            <a:endParaRPr lang="en-US" sz="1400" dirty="0"/>
          </a:p>
          <a:p>
            <a:pPr indent="0" marL="0">
              <a:buNone/>
            </a:pPr>
            <a:r>
              <a:rPr lang="en-US" sz="1400" b="1" dirty="0">
                <a:solidFill>
                  <a:schemeClr val="bg1"/>
                </a:solidFill>
              </a:rPr>
              <a:t>Guide: Prof. Kirti Sharma</a:t>
            </a:r>
            <a:endParaRPr lang="en-US" sz="1400" dirty="0"/>
          </a:p>
          <a:p>
            <a:pPr indent="0" marL="0">
              <a:buNone/>
            </a:pPr>
            <a:r>
              <a:rPr lang="en-US" sz="1400" dirty="0">
                <a:solidFill>
                  <a:schemeClr val="bg1"/>
                </a:solidFill>
              </a:rPr>
              <a:t>KIET Deemed to be University</a:t>
            </a:r>
            <a:endParaRPr lang="en-US" sz="1400" dirty="0"/>
          </a:p>
        </p:txBody>
      </p:sp>
      <p:sp>
        <p:nvSpPr>
          <p:cNvPr id="6" name="Text 3"/>
          <p:cNvSpPr txBox="1"/>
          <p:nvPr/>
        </p:nvSpPr>
        <p:spPr>
          <a:xfrm>
            <a:off x="548640" y="6035040"/>
            <a:ext cx="5852160" cy="274320"/>
          </a:xfrm>
          <a:prstGeom prst="rect">
            <a:avLst/>
          </a:prstGeom>
          <a:noFill/>
          <a:ln/>
        </p:spPr>
        <p:txBody>
          <a:bodyPr wrap="square" lIns="0" tIns="0" rIns="0" bIns="0" rtlCol="0" anchor="t"/>
          <a:lstStyle/>
          <a:p>
            <a:pPr indent="0" marL="0">
              <a:buNone/>
            </a:pPr>
            <a:r>
              <a:rPr lang="en-US" sz="1100" dirty="0">
                <a:solidFill>
                  <a:schemeClr val="bg2"/>
                </a:solidFill>
              </a:rPr>
              <a:t>Source notebook: Image_to_3D_Agent_Colab.ipynb (Colab, T4 GPU target)</a:t>
            </a:r>
            <a:endParaRPr lang="en-US" sz="1100" dirty="0"/>
          </a:p>
        </p:txBody>
      </p:sp>
      <p:pic>
        <p:nvPicPr>
          <p:cNvPr id="7" name="input chair" descr="/home/claude/deck/assets/input.png">    </p:cNvPr>
          <p:cNvPicPr>
            <a:picLocks noChangeAspect="1"/>
          </p:cNvPicPr>
          <p:nvPr/>
        </p:nvPicPr>
        <p:blipFill>
          <a:blip r:embed="rId1"/>
          <a:stretch>
            <a:fillRect/>
          </a:stretch>
        </p:blipFill>
        <p:spPr>
          <a:xfrm>
            <a:off x="6903720" y="1371600"/>
            <a:ext cx="2148840" cy="2148840"/>
          </a:xfrm>
          <a:prstGeom prst="rect">
            <a:avLst/>
          </a:prstGeom>
        </p:spPr>
      </p:pic>
      <p:sp>
        <p:nvSpPr>
          <p:cNvPr id="8" name="Shape 4"/>
          <p:cNvSpPr/>
          <p:nvPr/>
        </p:nvSpPr>
        <p:spPr>
          <a:xfrm>
            <a:off x="9125712" y="2450592"/>
            <a:ext cx="457200" cy="0"/>
          </a:xfrm>
          <a:prstGeom prst="line">
            <a:avLst/>
          </a:prstGeom>
          <a:noFill/>
          <a:ln w="22225">
            <a:solidFill>
              <a:schemeClr val="accent2"/>
            </a:solidFill>
            <a:prstDash val="solid"/>
            <a:tailEnd type="triangle"/>
          </a:ln>
        </p:spPr>
      </p:sp>
      <p:pic>
        <p:nvPicPr>
          <p:cNvPr id="9" name="Image 1" descr="/home/claude/deck/assets/view2.png">    </p:cNvPr>
          <p:cNvPicPr>
            <a:picLocks noChangeAspect="1"/>
          </p:cNvPicPr>
          <p:nvPr/>
        </p:nvPicPr>
        <p:blipFill>
          <a:blip r:embed="rId2"/>
          <a:stretch>
            <a:fillRect/>
          </a:stretch>
        </p:blipFill>
        <p:spPr>
          <a:xfrm>
            <a:off x="9646920" y="1371600"/>
            <a:ext cx="2011680" cy="1865376"/>
          </a:xfrm>
          <a:prstGeom prst="rect">
            <a:avLst/>
          </a:prstGeom>
        </p:spPr>
      </p:pic>
      <p:sp>
        <p:nvSpPr>
          <p:cNvPr id="10" name="Text 5"/>
          <p:cNvSpPr txBox="1"/>
          <p:nvPr/>
        </p:nvSpPr>
        <p:spPr>
          <a:xfrm>
            <a:off x="6903720" y="3611880"/>
            <a:ext cx="2148840" cy="548640"/>
          </a:xfrm>
          <a:prstGeom prst="rect">
            <a:avLst/>
          </a:prstGeom>
          <a:noFill/>
          <a:ln/>
        </p:spPr>
        <p:txBody>
          <a:bodyPr wrap="square" lIns="0" tIns="0" rIns="0" bIns="0" rtlCol="0" anchor="t"/>
          <a:lstStyle/>
          <a:p>
            <a:pPr indent="0" marL="0">
              <a:buNone/>
            </a:pPr>
            <a:r>
              <a:rPr lang="en-US" sz="1100" dirty="0">
                <a:solidFill>
                  <a:schemeClr val="bg2"/>
                </a:solidFill>
              </a:rPr>
              <a:t>Input photo (cut-out, from the preview sheet)</a:t>
            </a:r>
            <a:endParaRPr lang="en-US" sz="1100" dirty="0"/>
          </a:p>
        </p:txBody>
      </p:sp>
      <p:sp>
        <p:nvSpPr>
          <p:cNvPr id="11" name="Text 6"/>
          <p:cNvSpPr txBox="1"/>
          <p:nvPr/>
        </p:nvSpPr>
        <p:spPr>
          <a:xfrm>
            <a:off x="9646920" y="3611880"/>
            <a:ext cx="2011680" cy="548640"/>
          </a:xfrm>
          <a:prstGeom prst="rect">
            <a:avLst/>
          </a:prstGeom>
          <a:noFill/>
          <a:ln/>
        </p:spPr>
        <p:txBody>
          <a:bodyPr wrap="square" lIns="0" tIns="0" rIns="0" bIns="0" rtlCol="0" anchor="t"/>
          <a:lstStyle/>
          <a:p>
            <a:pPr indent="0" marL="0">
              <a:buNone/>
            </a:pPr>
            <a:r>
              <a:rPr lang="en-US" sz="1100" dirty="0">
                <a:solidFill>
                  <a:schemeClr val="bg2"/>
                </a:solidFill>
              </a:rPr>
              <a:t>Mesh viewer capture from one run, unedited</a:t>
            </a:r>
            <a:endParaRPr lang="en-US" sz="1100" dirty="0"/>
          </a:p>
        </p:txBody>
      </p:sp>
      <p:sp>
        <p:nvSpPr>
          <p:cNvPr id="12" name="Text 7"/>
          <p:cNvSpPr txBox="1"/>
          <p:nvPr/>
        </p:nvSpPr>
        <p:spPr>
          <a:xfrm>
            <a:off x="6903720" y="4480560"/>
            <a:ext cx="4754880" cy="822960"/>
          </a:xfrm>
          <a:prstGeom prst="rect">
            <a:avLst/>
          </a:prstGeom>
          <a:noFill/>
          <a:ln/>
        </p:spPr>
        <p:txBody>
          <a:bodyPr wrap="square" lIns="0" tIns="0" rIns="0" bIns="0" rtlCol="0" anchor="t"/>
          <a:lstStyle/>
          <a:p>
            <a:pPr indent="0" marL="0">
              <a:buNone/>
            </a:pPr>
            <a:r>
              <a:rPr lang="en-US" sz="1400" dirty="0">
                <a:solidFill>
                  <a:schemeClr val="bg1"/>
                </a:solidFill>
              </a:rPr>
              <a:t>Real outputs, not illustrations. Backend, IoU and log for this run were not recorded, so no score is claimed.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2354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Problem and Motivation</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6"/>
          </a:solidFill>
          <a:ln/>
        </p:spPr>
        <p:txBody>
          <a:bodyPr wrap="square" lIns="0" tIns="0" rIns="0" bIns="0" rtlCol="0" anchor="ctr"/>
          <a:lstStyle/>
          <a:p>
            <a:pPr algn="ctr" indent="0" marL="0">
              <a:buNone/>
            </a:pPr>
            <a:r>
              <a:rPr lang="en-US" sz="1000" b="1" dirty="0">
                <a:solidFill>
                  <a:schemeClr val="bg1"/>
                </a:solidFill>
              </a:rPr>
              <a:t>CONCEPT</a:t>
            </a:r>
            <a:endParaRPr lang="en-US" sz="1000" dirty="0"/>
          </a:p>
        </p:txBody>
      </p:sp>
      <p:sp>
        <p:nvSpPr>
          <p:cNvPr id="5" name="Text 2"/>
          <p:cNvSpPr txBox="1"/>
          <p:nvPr/>
        </p:nvSpPr>
        <p:spPr>
          <a:xfrm>
            <a:off x="548640" y="1463040"/>
            <a:ext cx="5760720" cy="42062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A single photograph carries limited depth information and no view of hidden surfaces</a:t>
            </a:r>
            <a:endParaRPr lang="en-US" sz="1800" dirty="0"/>
          </a:p>
          <a:p>
            <a:pPr marL="342900" indent="-342900">
              <a:spcAft>
                <a:spcPts val="600"/>
              </a:spcAft>
              <a:buSzPct val="100000"/>
              <a:buChar char="•"/>
            </a:pPr>
            <a:r>
              <a:rPr lang="en-US" sz="1800" dirty="0">
                <a:solidFill>
                  <a:schemeClr val="tx1"/>
                </a:solidFill>
              </a:rPr>
              <a:t>Manual 3D modelling needs specialist skills and time</a:t>
            </a:r>
            <a:endParaRPr lang="en-US" sz="1800" dirty="0"/>
          </a:p>
          <a:p>
            <a:pPr marL="342900" indent="-342900">
              <a:spcAft>
                <a:spcPts val="600"/>
              </a:spcAft>
              <a:buSzPct val="100000"/>
              <a:buChar char="•"/>
            </a:pPr>
            <a:r>
              <a:rPr lang="en-US" sz="1800" dirty="0">
                <a:solidFill>
                  <a:schemeClr val="tx1"/>
                </a:solidFill>
              </a:rPr>
              <a:t>Multiple views add geometric cues, but still need a reconstruction step</a:t>
            </a:r>
            <a:endParaRPr lang="en-US" sz="1800" dirty="0"/>
          </a:p>
          <a:p>
            <a:pPr marL="342900" indent="-342900">
              <a:spcAft>
                <a:spcPts val="600"/>
              </a:spcAft>
              <a:buSzPct val="100000"/>
              <a:buChar char="•"/>
            </a:pPr>
            <a:r>
              <a:rPr lang="en-US" sz="1800" dirty="0">
                <a:solidFill>
                  <a:schemeClr val="tx1"/>
                </a:solidFill>
              </a:rPr>
              <a:t>Our approach: an automated inference pipeline that orchestrates pretrained 3D-generation models</a:t>
            </a:r>
            <a:endParaRPr lang="en-US" sz="1800" dirty="0"/>
          </a:p>
        </p:txBody>
      </p:sp>
      <p:sp>
        <p:nvSpPr>
          <p:cNvPr id="6" name="Text 3"/>
          <p:cNvSpPr txBox="1"/>
          <p:nvPr/>
        </p:nvSpPr>
        <p:spPr>
          <a:xfrm>
            <a:off x="7498080" y="1554480"/>
            <a:ext cx="3657600" cy="914400"/>
          </a:xfrm>
          <a:prstGeom prst="roundRect">
            <a:avLst>
              <a:gd name="adj" fmla="val 8000"/>
            </a:avLst>
          </a:prstGeom>
          <a:solidFill>
            <a:schemeClr val="accent6"/>
          </a:solidFill>
          <a:ln/>
        </p:spPr>
        <p:txBody>
          <a:bodyPr wrap="square" lIns="762" tIns="762" rIns="762" bIns="762" rtlCol="0" anchor="ctr"/>
          <a:lstStyle/>
          <a:p>
            <a:pPr algn="ctr" indent="0" marL="0">
              <a:buNone/>
            </a:pPr>
            <a:r>
              <a:rPr lang="en-US" sz="1500" dirty="0">
                <a:solidFill>
                  <a:schemeClr val="bg1"/>
                </a:solidFill>
              </a:rPr>
              <a:t>2D input</a:t>
            </a:r>
            <a:endParaRPr lang="en-US" sz="1500" dirty="0"/>
          </a:p>
          <a:p>
            <a:pPr algn="ctr" indent="0" marL="0">
              <a:buNone/>
            </a:pPr>
            <a:r>
              <a:rPr lang="en-US" sz="1500" dirty="0">
                <a:solidFill>
                  <a:schemeClr val="bg1"/>
                </a:solidFill>
              </a:rPr>
              <a:t>One photo, or 2-4 views</a:t>
            </a:r>
            <a:endParaRPr lang="en-US" sz="1500" dirty="0"/>
          </a:p>
        </p:txBody>
      </p:sp>
      <p:sp>
        <p:nvSpPr>
          <p:cNvPr id="7" name="Shape 4"/>
          <p:cNvSpPr/>
          <p:nvPr/>
        </p:nvSpPr>
        <p:spPr>
          <a:xfrm>
            <a:off x="9326880" y="2514600"/>
            <a:ext cx="0" cy="457200"/>
          </a:xfrm>
          <a:prstGeom prst="line">
            <a:avLst/>
          </a:prstGeom>
          <a:noFill/>
          <a:ln w="22225">
            <a:solidFill>
              <a:schemeClr val="tx2"/>
            </a:solidFill>
            <a:prstDash val="solid"/>
            <a:tailEnd type="triangle"/>
          </a:ln>
        </p:spPr>
      </p:sp>
      <p:sp>
        <p:nvSpPr>
          <p:cNvPr id="8" name="Text 5"/>
          <p:cNvSpPr txBox="1"/>
          <p:nvPr/>
        </p:nvSpPr>
        <p:spPr>
          <a:xfrm>
            <a:off x="7498080" y="3017520"/>
            <a:ext cx="3657600" cy="1188720"/>
          </a:xfrm>
          <a:prstGeom prst="roundRect">
            <a:avLst>
              <a:gd name="adj" fmla="val 6154"/>
            </a:avLst>
          </a:prstGeom>
          <a:solidFill>
            <a:schemeClr val="accent1"/>
          </a:solidFill>
          <a:ln/>
        </p:spPr>
        <p:txBody>
          <a:bodyPr wrap="square" lIns="762" tIns="762" rIns="762" bIns="762" rtlCol="0" anchor="ctr"/>
          <a:lstStyle/>
          <a:p>
            <a:pPr algn="ctr" indent="0" marL="0">
              <a:buNone/>
            </a:pPr>
            <a:r>
              <a:rPr lang="en-US" sz="1400" dirty="0">
                <a:solidFill>
                  <a:schemeClr val="bg1"/>
                </a:solidFill>
              </a:rPr>
              <a:t>Reconstruction</a:t>
            </a:r>
            <a:endParaRPr lang="en-US" sz="1400" dirty="0"/>
          </a:p>
          <a:p>
            <a:pPr algn="ctr" indent="0" marL="0">
              <a:buNone/>
            </a:pPr>
            <a:r>
              <a:rPr lang="en-US" sz="1400" dirty="0">
                <a:solidFill>
                  <a:schemeClr val="bg1"/>
                </a:solidFill>
              </a:rPr>
              <a:t>Pretrained generative model, selected and scored by the agent</a:t>
            </a:r>
            <a:endParaRPr lang="en-US" sz="1400" dirty="0"/>
          </a:p>
        </p:txBody>
      </p:sp>
      <p:sp>
        <p:nvSpPr>
          <p:cNvPr id="9" name="Shape 6"/>
          <p:cNvSpPr/>
          <p:nvPr/>
        </p:nvSpPr>
        <p:spPr>
          <a:xfrm>
            <a:off x="9326880" y="4251960"/>
            <a:ext cx="0" cy="457200"/>
          </a:xfrm>
          <a:prstGeom prst="line">
            <a:avLst/>
          </a:prstGeom>
          <a:noFill/>
          <a:ln w="22225">
            <a:solidFill>
              <a:schemeClr val="tx2"/>
            </a:solidFill>
            <a:prstDash val="solid"/>
            <a:tailEnd type="triangle"/>
          </a:ln>
        </p:spPr>
      </p:sp>
      <p:sp>
        <p:nvSpPr>
          <p:cNvPr id="10" name="Text 7"/>
          <p:cNvSpPr txBox="1"/>
          <p:nvPr/>
        </p:nvSpPr>
        <p:spPr>
          <a:xfrm>
            <a:off x="7498080" y="4800600"/>
            <a:ext cx="3657600" cy="914400"/>
          </a:xfrm>
          <a:prstGeom prst="roundRect">
            <a:avLst>
              <a:gd name="adj" fmla="val 8000"/>
            </a:avLst>
          </a:prstGeom>
          <a:solidFill>
            <a:schemeClr val="accent2"/>
          </a:solidFill>
          <a:ln/>
        </p:spPr>
        <p:txBody>
          <a:bodyPr wrap="square" lIns="762" tIns="762" rIns="762" bIns="762" rtlCol="0" anchor="ctr"/>
          <a:lstStyle/>
          <a:p>
            <a:pPr algn="ctr" indent="0" marL="0">
              <a:buNone/>
            </a:pPr>
            <a:r>
              <a:rPr lang="en-US" sz="1500" dirty="0">
                <a:solidFill>
                  <a:schemeClr val="bg1"/>
                </a:solidFill>
              </a:rPr>
              <a:t>3D mesh</a:t>
            </a:r>
            <a:endParaRPr lang="en-US" sz="1500" dirty="0"/>
          </a:p>
          <a:p>
            <a:pPr algn="ctr" indent="0" marL="0">
              <a:buNone/>
            </a:pPr>
            <a:r>
              <a:rPr lang="en-US" sz="1500" dirty="0">
                <a:solidFill>
                  <a:schemeClr val="bg1"/>
                </a:solidFill>
              </a:rPr>
              <a:t>GLB / OBJ / STL</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2354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Objectives and Proposed Solution</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4"/>
          </a:solidFill>
          <a:ln/>
        </p:spPr>
        <p:txBody>
          <a:bodyPr wrap="square" lIns="0" tIns="0" rIns="0" bIns="0" rtlCol="0" anchor="ctr"/>
          <a:lstStyle/>
          <a:p>
            <a:pPr algn="ctr" indent="0" marL="0">
              <a:buNone/>
            </a:pPr>
            <a:r>
              <a:rPr lang="en-US" sz="1000" b="1" dirty="0">
                <a:solidFill>
                  <a:schemeClr val="bg1"/>
                </a:solidFill>
              </a:rPr>
              <a:t>IMPLEMENTED</a:t>
            </a:r>
            <a:endParaRPr lang="en-US" sz="1000" dirty="0"/>
          </a:p>
        </p:txBody>
      </p:sp>
      <p:sp>
        <p:nvSpPr>
          <p:cNvPr id="5" name="Text 2"/>
          <p:cNvSpPr txBox="1"/>
          <p:nvPr/>
        </p:nvSpPr>
        <p:spPr>
          <a:xfrm>
            <a:off x="548640" y="1417320"/>
            <a:ext cx="548640" cy="548640"/>
          </a:xfrm>
          <a:prstGeom prst="ellipse">
            <a:avLst>
              <a:gd name="adj" fmla="val 13333"/>
            </a:avLst>
          </a:prstGeom>
          <a:solidFill>
            <a:schemeClr val="accent1"/>
          </a:solidFill>
          <a:ln/>
        </p:spPr>
        <p:txBody>
          <a:bodyPr wrap="square" lIns="762" tIns="762" rIns="762" bIns="762" rtlCol="0" anchor="ctr"/>
          <a:lstStyle/>
          <a:p>
            <a:pPr algn="ctr" indent="0" marL="0">
              <a:buNone/>
            </a:pPr>
            <a:r>
              <a:rPr lang="en-US" sz="1800" b="1" dirty="0">
                <a:solidFill>
                  <a:schemeClr val="bg1"/>
                </a:solidFill>
              </a:rPr>
              <a:t>1</a:t>
            </a:r>
            <a:endParaRPr lang="en-US" sz="1800" dirty="0"/>
          </a:p>
        </p:txBody>
      </p:sp>
      <p:sp>
        <p:nvSpPr>
          <p:cNvPr id="6" name="Text 3"/>
          <p:cNvSpPr txBox="1"/>
          <p:nvPr/>
        </p:nvSpPr>
        <p:spPr>
          <a:xfrm>
            <a:off x="1234440" y="1417320"/>
            <a:ext cx="2743200" cy="1371600"/>
          </a:xfrm>
          <a:prstGeom prst="rect">
            <a:avLst/>
          </a:prstGeom>
          <a:noFill/>
          <a:ln/>
        </p:spPr>
        <p:txBody>
          <a:bodyPr wrap="square" lIns="0" tIns="0" rIns="0" bIns="0" rtlCol="0" anchor="t"/>
          <a:lstStyle/>
          <a:p>
            <a:pPr indent="0" marL="0">
              <a:buNone/>
            </a:pPr>
            <a:r>
              <a:rPr lang="en-US" sz="1600" dirty="0">
                <a:solidFill>
                  <a:schemeClr val="tx1"/>
                </a:solidFill>
              </a:rPr>
              <a:t>Accept one or more images of an object</a:t>
            </a:r>
            <a:endParaRPr lang="en-US" sz="1600" dirty="0"/>
          </a:p>
        </p:txBody>
      </p:sp>
      <p:sp>
        <p:nvSpPr>
          <p:cNvPr id="7" name="Text 4"/>
          <p:cNvSpPr txBox="1"/>
          <p:nvPr/>
        </p:nvSpPr>
        <p:spPr>
          <a:xfrm>
            <a:off x="4297680" y="1417320"/>
            <a:ext cx="548640" cy="548640"/>
          </a:xfrm>
          <a:prstGeom prst="ellipse">
            <a:avLst>
              <a:gd name="adj" fmla="val 13333"/>
            </a:avLst>
          </a:prstGeom>
          <a:solidFill>
            <a:schemeClr val="accent1"/>
          </a:solidFill>
          <a:ln/>
        </p:spPr>
        <p:txBody>
          <a:bodyPr wrap="square" lIns="762" tIns="762" rIns="762" bIns="762" rtlCol="0" anchor="ctr"/>
          <a:lstStyle/>
          <a:p>
            <a:pPr algn="ctr" indent="0" marL="0">
              <a:buNone/>
            </a:pPr>
            <a:r>
              <a:rPr lang="en-US" sz="1800" b="1" dirty="0">
                <a:solidFill>
                  <a:schemeClr val="bg1"/>
                </a:solidFill>
              </a:rPr>
              <a:t>2</a:t>
            </a:r>
            <a:endParaRPr lang="en-US" sz="1800" dirty="0"/>
          </a:p>
        </p:txBody>
      </p:sp>
      <p:sp>
        <p:nvSpPr>
          <p:cNvPr id="8" name="Text 5"/>
          <p:cNvSpPr txBox="1"/>
          <p:nvPr/>
        </p:nvSpPr>
        <p:spPr>
          <a:xfrm>
            <a:off x="4983480" y="1417320"/>
            <a:ext cx="2743200" cy="1371600"/>
          </a:xfrm>
          <a:prstGeom prst="rect">
            <a:avLst/>
          </a:prstGeom>
          <a:noFill/>
          <a:ln/>
        </p:spPr>
        <p:txBody>
          <a:bodyPr wrap="square" lIns="0" tIns="0" rIns="0" bIns="0" rtlCol="0" anchor="t"/>
          <a:lstStyle/>
          <a:p>
            <a:pPr indent="0" marL="0">
              <a:buNone/>
            </a:pPr>
            <a:r>
              <a:rPr lang="en-US" sz="1600" dirty="0">
                <a:solidFill>
                  <a:schemeClr val="tx1"/>
                </a:solidFill>
              </a:rPr>
              <a:t>Standardise the image and inspect its quality</a:t>
            </a:r>
            <a:endParaRPr lang="en-US" sz="1600" dirty="0"/>
          </a:p>
        </p:txBody>
      </p:sp>
      <p:sp>
        <p:nvSpPr>
          <p:cNvPr id="9" name="Text 6"/>
          <p:cNvSpPr txBox="1"/>
          <p:nvPr/>
        </p:nvSpPr>
        <p:spPr>
          <a:xfrm>
            <a:off x="8046720" y="1417320"/>
            <a:ext cx="548640" cy="548640"/>
          </a:xfrm>
          <a:prstGeom prst="ellipse">
            <a:avLst>
              <a:gd name="adj" fmla="val 13333"/>
            </a:avLst>
          </a:prstGeom>
          <a:solidFill>
            <a:schemeClr val="accent1"/>
          </a:solidFill>
          <a:ln/>
        </p:spPr>
        <p:txBody>
          <a:bodyPr wrap="square" lIns="762" tIns="762" rIns="762" bIns="762" rtlCol="0" anchor="ctr"/>
          <a:lstStyle/>
          <a:p>
            <a:pPr algn="ctr" indent="0" marL="0">
              <a:buNone/>
            </a:pPr>
            <a:r>
              <a:rPr lang="en-US" sz="1800" b="1" dirty="0">
                <a:solidFill>
                  <a:schemeClr val="bg1"/>
                </a:solidFill>
              </a:rPr>
              <a:t>3</a:t>
            </a:r>
            <a:endParaRPr lang="en-US" sz="1800" dirty="0"/>
          </a:p>
        </p:txBody>
      </p:sp>
      <p:sp>
        <p:nvSpPr>
          <p:cNvPr id="10" name="Text 7"/>
          <p:cNvSpPr txBox="1"/>
          <p:nvPr/>
        </p:nvSpPr>
        <p:spPr>
          <a:xfrm>
            <a:off x="8732520" y="1417320"/>
            <a:ext cx="2743200" cy="1371600"/>
          </a:xfrm>
          <a:prstGeom prst="rect">
            <a:avLst/>
          </a:prstGeom>
          <a:noFill/>
          <a:ln/>
        </p:spPr>
        <p:txBody>
          <a:bodyPr wrap="square" lIns="0" tIns="0" rIns="0" bIns="0" rtlCol="0" anchor="t"/>
          <a:lstStyle/>
          <a:p>
            <a:pPr indent="0" marL="0">
              <a:buNone/>
            </a:pPr>
            <a:r>
              <a:rPr lang="en-US" sz="1600" dirty="0">
                <a:solidFill>
                  <a:schemeClr val="tx1"/>
                </a:solidFill>
              </a:rPr>
              <a:t>Select an available pretrained model backend</a:t>
            </a:r>
            <a:endParaRPr lang="en-US" sz="1600" dirty="0"/>
          </a:p>
        </p:txBody>
      </p:sp>
      <p:sp>
        <p:nvSpPr>
          <p:cNvPr id="11" name="Text 8"/>
          <p:cNvSpPr txBox="1"/>
          <p:nvPr/>
        </p:nvSpPr>
        <p:spPr>
          <a:xfrm>
            <a:off x="548640" y="3108960"/>
            <a:ext cx="548640" cy="548640"/>
          </a:xfrm>
          <a:prstGeom prst="ellipse">
            <a:avLst>
              <a:gd name="adj" fmla="val 13333"/>
            </a:avLst>
          </a:prstGeom>
          <a:solidFill>
            <a:schemeClr val="accent1"/>
          </a:solidFill>
          <a:ln/>
        </p:spPr>
        <p:txBody>
          <a:bodyPr wrap="square" lIns="762" tIns="762" rIns="762" bIns="762" rtlCol="0" anchor="ctr"/>
          <a:lstStyle/>
          <a:p>
            <a:pPr algn="ctr" indent="0" marL="0">
              <a:buNone/>
            </a:pPr>
            <a:r>
              <a:rPr lang="en-US" sz="1800" b="1" dirty="0">
                <a:solidFill>
                  <a:schemeClr val="bg1"/>
                </a:solidFill>
              </a:rPr>
              <a:t>4</a:t>
            </a:r>
            <a:endParaRPr lang="en-US" sz="1800" dirty="0"/>
          </a:p>
        </p:txBody>
      </p:sp>
      <p:sp>
        <p:nvSpPr>
          <p:cNvPr id="12" name="Text 9"/>
          <p:cNvSpPr txBox="1"/>
          <p:nvPr/>
        </p:nvSpPr>
        <p:spPr>
          <a:xfrm>
            <a:off x="1234440" y="3108960"/>
            <a:ext cx="2743200" cy="1371600"/>
          </a:xfrm>
          <a:prstGeom prst="rect">
            <a:avLst/>
          </a:prstGeom>
          <a:noFill/>
          <a:ln/>
        </p:spPr>
        <p:txBody>
          <a:bodyPr wrap="square" lIns="0" tIns="0" rIns="0" bIns="0" rtlCol="0" anchor="t"/>
          <a:lstStyle/>
          <a:p>
            <a:pPr indent="0" marL="0">
              <a:buNone/>
            </a:pPr>
            <a:r>
              <a:rPr lang="en-US" sz="1600" dirty="0">
                <a:solidFill>
                  <a:schemeClr val="tx1"/>
                </a:solidFill>
              </a:rPr>
              <a:t>Generate and compare candidate 3D meshes</a:t>
            </a:r>
            <a:endParaRPr lang="en-US" sz="1600" dirty="0"/>
          </a:p>
        </p:txBody>
      </p:sp>
      <p:sp>
        <p:nvSpPr>
          <p:cNvPr id="13" name="Text 10"/>
          <p:cNvSpPr txBox="1"/>
          <p:nvPr/>
        </p:nvSpPr>
        <p:spPr>
          <a:xfrm>
            <a:off x="4297680" y="3108960"/>
            <a:ext cx="548640" cy="548640"/>
          </a:xfrm>
          <a:prstGeom prst="ellipse">
            <a:avLst>
              <a:gd name="adj" fmla="val 13333"/>
            </a:avLst>
          </a:prstGeom>
          <a:solidFill>
            <a:schemeClr val="accent1"/>
          </a:solidFill>
          <a:ln/>
        </p:spPr>
        <p:txBody>
          <a:bodyPr wrap="square" lIns="762" tIns="762" rIns="762" bIns="762" rtlCol="0" anchor="ctr"/>
          <a:lstStyle/>
          <a:p>
            <a:pPr algn="ctr" indent="0" marL="0">
              <a:buNone/>
            </a:pPr>
            <a:r>
              <a:rPr lang="en-US" sz="1800" b="1" dirty="0">
                <a:solidFill>
                  <a:schemeClr val="bg1"/>
                </a:solidFill>
              </a:rPr>
              <a:t>5</a:t>
            </a:r>
            <a:endParaRPr lang="en-US" sz="1800" dirty="0"/>
          </a:p>
        </p:txBody>
      </p:sp>
      <p:sp>
        <p:nvSpPr>
          <p:cNvPr id="14" name="Text 11"/>
          <p:cNvSpPr txBox="1"/>
          <p:nvPr/>
        </p:nvSpPr>
        <p:spPr>
          <a:xfrm>
            <a:off x="4983480" y="3108960"/>
            <a:ext cx="2743200" cy="1371600"/>
          </a:xfrm>
          <a:prstGeom prst="rect">
            <a:avLst/>
          </a:prstGeom>
          <a:noFill/>
          <a:ln/>
        </p:spPr>
        <p:txBody>
          <a:bodyPr wrap="square" lIns="0" tIns="0" rIns="0" bIns="0" rtlCol="0" anchor="t"/>
          <a:lstStyle/>
          <a:p>
            <a:pPr indent="0" marL="0">
              <a:buNone/>
            </a:pPr>
            <a:r>
              <a:rPr lang="en-US" sz="1600" dirty="0">
                <a:solidFill>
                  <a:schemeClr val="tx1"/>
                </a:solidFill>
              </a:rPr>
              <a:t>Process the selected mesh and project available image colours</a:t>
            </a:r>
            <a:endParaRPr lang="en-US" sz="1600" dirty="0"/>
          </a:p>
        </p:txBody>
      </p:sp>
      <p:sp>
        <p:nvSpPr>
          <p:cNvPr id="15" name="Text 12"/>
          <p:cNvSpPr txBox="1"/>
          <p:nvPr/>
        </p:nvSpPr>
        <p:spPr>
          <a:xfrm>
            <a:off x="8046720" y="3108960"/>
            <a:ext cx="548640" cy="548640"/>
          </a:xfrm>
          <a:prstGeom prst="ellipse">
            <a:avLst>
              <a:gd name="adj" fmla="val 13333"/>
            </a:avLst>
          </a:prstGeom>
          <a:solidFill>
            <a:schemeClr val="accent1"/>
          </a:solidFill>
          <a:ln/>
        </p:spPr>
        <p:txBody>
          <a:bodyPr wrap="square" lIns="762" tIns="762" rIns="762" bIns="762" rtlCol="0" anchor="ctr"/>
          <a:lstStyle/>
          <a:p>
            <a:pPr algn="ctr" indent="0" marL="0">
              <a:buNone/>
            </a:pPr>
            <a:r>
              <a:rPr lang="en-US" sz="1800" b="1" dirty="0">
                <a:solidFill>
                  <a:schemeClr val="bg1"/>
                </a:solidFill>
              </a:rPr>
              <a:t>6</a:t>
            </a:r>
            <a:endParaRPr lang="en-US" sz="1800" dirty="0"/>
          </a:p>
        </p:txBody>
      </p:sp>
      <p:sp>
        <p:nvSpPr>
          <p:cNvPr id="16" name="Text 13"/>
          <p:cNvSpPr txBox="1"/>
          <p:nvPr/>
        </p:nvSpPr>
        <p:spPr>
          <a:xfrm>
            <a:off x="8732520" y="3108960"/>
            <a:ext cx="2743200" cy="1371600"/>
          </a:xfrm>
          <a:prstGeom prst="rect">
            <a:avLst/>
          </a:prstGeom>
          <a:noFill/>
          <a:ln/>
        </p:spPr>
        <p:txBody>
          <a:bodyPr wrap="square" lIns="0" tIns="0" rIns="0" bIns="0" rtlCol="0" anchor="t"/>
          <a:lstStyle/>
          <a:p>
            <a:pPr indent="0" marL="0">
              <a:buNone/>
            </a:pPr>
            <a:r>
              <a:rPr lang="en-US" sz="1600" dirty="0">
                <a:solidFill>
                  <a:schemeClr val="tx1"/>
                </a:solidFill>
              </a:rPr>
              <a:t>Provide downloadable outputs and an evaluation report</a:t>
            </a:r>
            <a:endParaRPr lang="en-US" sz="1600" dirty="0"/>
          </a:p>
        </p:txBody>
      </p:sp>
      <p:sp>
        <p:nvSpPr>
          <p:cNvPr id="17" name="Text 14"/>
          <p:cNvSpPr txBox="1"/>
          <p:nvPr/>
        </p:nvSpPr>
        <p:spPr>
          <a:xfrm>
            <a:off x="548640" y="5029200"/>
            <a:ext cx="11064240" cy="1005840"/>
          </a:xfrm>
          <a:prstGeom prst="roundRect">
            <a:avLst>
              <a:gd name="adj" fmla="val 7273"/>
            </a:avLst>
          </a:prstGeom>
          <a:solidFill>
            <a:schemeClr val="tx1"/>
          </a:solidFill>
          <a:ln/>
        </p:spPr>
        <p:txBody>
          <a:bodyPr wrap="square" lIns="2540" tIns="2540" rIns="2540" bIns="2540" rtlCol="0" anchor="ctr"/>
          <a:lstStyle/>
          <a:p>
            <a:pPr algn="l" indent="0" marL="0">
              <a:buNone/>
            </a:pPr>
            <a:r>
              <a:rPr lang="en-US" sz="1600" dirty="0">
                <a:solidFill>
                  <a:schemeClr val="bg1"/>
                </a:solidFill>
              </a:rPr>
              <a:t>The agent = an orchestration layer linking preprocessing, generative backends, candidate scoring, mesh processing and export. It orchestrates existing models; it does not train one.</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2354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System Architecture</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4"/>
          </a:solidFill>
          <a:ln/>
        </p:spPr>
        <p:txBody>
          <a:bodyPr wrap="square" lIns="0" tIns="0" rIns="0" bIns="0" rtlCol="0" anchor="ctr"/>
          <a:lstStyle/>
          <a:p>
            <a:pPr algn="ctr" indent="0" marL="0">
              <a:buNone/>
            </a:pPr>
            <a:r>
              <a:rPr lang="en-US" sz="1000" b="1" dirty="0">
                <a:solidFill>
                  <a:schemeClr val="bg1"/>
                </a:solidFill>
              </a:rPr>
              <a:t>IMPLEMENTED</a:t>
            </a:r>
            <a:endParaRPr lang="en-US" sz="1000" dirty="0"/>
          </a:p>
        </p:txBody>
      </p:sp>
      <p:sp>
        <p:nvSpPr>
          <p:cNvPr id="5" name="Text 2"/>
          <p:cNvSpPr txBox="1"/>
          <p:nvPr/>
        </p:nvSpPr>
        <p:spPr>
          <a:xfrm>
            <a:off x="548640" y="1280160"/>
            <a:ext cx="2103120" cy="621792"/>
          </a:xfrm>
          <a:prstGeom prst="roundRect">
            <a:avLst>
              <a:gd name="adj" fmla="val 11765"/>
            </a:avLst>
          </a:prstGeom>
          <a:solidFill>
            <a:schemeClr val="accent6"/>
          </a:solidFill>
          <a:ln/>
        </p:spPr>
        <p:txBody>
          <a:bodyPr wrap="square" lIns="762" tIns="762" rIns="762" bIns="762" rtlCol="0" anchor="ctr"/>
          <a:lstStyle/>
          <a:p>
            <a:pPr algn="ctr" indent="0" marL="0">
              <a:buNone/>
            </a:pPr>
            <a:r>
              <a:rPr lang="en-US" sz="1300" b="1" dirty="0">
                <a:solidFill>
                  <a:schemeClr val="bg1"/>
                </a:solidFill>
              </a:rPr>
              <a:t>Input</a:t>
            </a:r>
            <a:endParaRPr lang="en-US" sz="1300" dirty="0"/>
          </a:p>
        </p:txBody>
      </p:sp>
      <p:sp>
        <p:nvSpPr>
          <p:cNvPr id="6" name="Text 3"/>
          <p:cNvSpPr txBox="1"/>
          <p:nvPr/>
        </p:nvSpPr>
        <p:spPr>
          <a:xfrm>
            <a:off x="2880360" y="1280160"/>
            <a:ext cx="3657600"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Image upload (1 image or 2-4 views)</a:t>
            </a:r>
            <a:endParaRPr lang="en-US" sz="1100" dirty="0"/>
          </a:p>
        </p:txBody>
      </p:sp>
      <p:sp>
        <p:nvSpPr>
          <p:cNvPr id="7" name="Text 4"/>
          <p:cNvSpPr txBox="1"/>
          <p:nvPr/>
        </p:nvSpPr>
        <p:spPr>
          <a:xfrm>
            <a:off x="6675120" y="1280160"/>
            <a:ext cx="3657600"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Repo sample images (cell 6)</a:t>
            </a:r>
            <a:endParaRPr lang="en-US" sz="1100" dirty="0"/>
          </a:p>
        </p:txBody>
      </p:sp>
      <p:sp>
        <p:nvSpPr>
          <p:cNvPr id="8" name="Shape 5"/>
          <p:cNvSpPr/>
          <p:nvPr/>
        </p:nvSpPr>
        <p:spPr>
          <a:xfrm>
            <a:off x="1600200" y="1901952"/>
            <a:ext cx="0" cy="201168"/>
          </a:xfrm>
          <a:prstGeom prst="line">
            <a:avLst/>
          </a:prstGeom>
          <a:noFill/>
          <a:ln w="22225">
            <a:solidFill>
              <a:schemeClr val="tx2"/>
            </a:solidFill>
            <a:prstDash val="solid"/>
            <a:tailEnd type="triangle"/>
          </a:ln>
        </p:spPr>
      </p:sp>
      <p:sp>
        <p:nvSpPr>
          <p:cNvPr id="9" name="Text 6"/>
          <p:cNvSpPr txBox="1"/>
          <p:nvPr/>
        </p:nvSpPr>
        <p:spPr>
          <a:xfrm>
            <a:off x="548640" y="2103120"/>
            <a:ext cx="2103120" cy="621792"/>
          </a:xfrm>
          <a:prstGeom prst="roundRect">
            <a:avLst>
              <a:gd name="adj" fmla="val 11765"/>
            </a:avLst>
          </a:prstGeom>
          <a:solidFill>
            <a:schemeClr val="accent1"/>
          </a:solidFill>
          <a:ln/>
        </p:spPr>
        <p:txBody>
          <a:bodyPr wrap="square" lIns="762" tIns="762" rIns="762" bIns="762" rtlCol="0" anchor="ctr"/>
          <a:lstStyle/>
          <a:p>
            <a:pPr algn="ctr" indent="0" marL="0">
              <a:buNone/>
            </a:pPr>
            <a:r>
              <a:rPr lang="en-US" sz="1300" b="1" dirty="0">
                <a:solidFill>
                  <a:schemeClr val="bg1"/>
                </a:solidFill>
              </a:rPr>
              <a:t>Preprocessing</a:t>
            </a:r>
            <a:endParaRPr lang="en-US" sz="1300" dirty="0"/>
          </a:p>
        </p:txBody>
      </p:sp>
      <p:sp>
        <p:nvSpPr>
          <p:cNvPr id="10" name="Text 7"/>
          <p:cNvSpPr txBox="1"/>
          <p:nvPr/>
        </p:nvSpPr>
        <p:spPr>
          <a:xfrm>
            <a:off x="2880360" y="2103120"/>
            <a:ext cx="1627632"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EXIF fix</a:t>
            </a:r>
            <a:endParaRPr lang="en-US" sz="1100" dirty="0"/>
          </a:p>
        </p:txBody>
      </p:sp>
      <p:sp>
        <p:nvSpPr>
          <p:cNvPr id="11" name="Text 8"/>
          <p:cNvSpPr txBox="1"/>
          <p:nvPr/>
        </p:nvSpPr>
        <p:spPr>
          <a:xfrm>
            <a:off x="4645152" y="2103120"/>
            <a:ext cx="1627632"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Background removal</a:t>
            </a:r>
            <a:endParaRPr lang="en-US" sz="1100" dirty="0"/>
          </a:p>
        </p:txBody>
      </p:sp>
      <p:sp>
        <p:nvSpPr>
          <p:cNvPr id="12" name="Text 9"/>
          <p:cNvSpPr txBox="1"/>
          <p:nvPr/>
        </p:nvSpPr>
        <p:spPr>
          <a:xfrm>
            <a:off x="6409944" y="2103120"/>
            <a:ext cx="1627632"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Crop and centre</a:t>
            </a:r>
            <a:endParaRPr lang="en-US" sz="1100" dirty="0"/>
          </a:p>
        </p:txBody>
      </p:sp>
      <p:sp>
        <p:nvSpPr>
          <p:cNvPr id="13" name="Text 10"/>
          <p:cNvSpPr txBox="1"/>
          <p:nvPr/>
        </p:nvSpPr>
        <p:spPr>
          <a:xfrm>
            <a:off x="8174736" y="2103120"/>
            <a:ext cx="1627632"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Quality analysis</a:t>
            </a:r>
            <a:endParaRPr lang="en-US" sz="1100" dirty="0"/>
          </a:p>
        </p:txBody>
      </p:sp>
      <p:sp>
        <p:nvSpPr>
          <p:cNvPr id="14" name="Text 11"/>
          <p:cNvSpPr txBox="1"/>
          <p:nvPr/>
        </p:nvSpPr>
        <p:spPr>
          <a:xfrm>
            <a:off x="9939528" y="2103120"/>
            <a:ext cx="1627632"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View assignment</a:t>
            </a:r>
            <a:endParaRPr lang="en-US" sz="1100" dirty="0"/>
          </a:p>
        </p:txBody>
      </p:sp>
      <p:sp>
        <p:nvSpPr>
          <p:cNvPr id="15" name="Shape 12"/>
          <p:cNvSpPr/>
          <p:nvPr/>
        </p:nvSpPr>
        <p:spPr>
          <a:xfrm>
            <a:off x="1600200" y="2724912"/>
            <a:ext cx="0" cy="201168"/>
          </a:xfrm>
          <a:prstGeom prst="line">
            <a:avLst/>
          </a:prstGeom>
          <a:noFill/>
          <a:ln w="22225">
            <a:solidFill>
              <a:schemeClr val="tx2"/>
            </a:solidFill>
            <a:prstDash val="solid"/>
            <a:tailEnd type="triangle"/>
          </a:ln>
        </p:spPr>
      </p:sp>
      <p:sp>
        <p:nvSpPr>
          <p:cNvPr id="16" name="Text 13"/>
          <p:cNvSpPr txBox="1"/>
          <p:nvPr/>
        </p:nvSpPr>
        <p:spPr>
          <a:xfrm>
            <a:off x="548640" y="2926080"/>
            <a:ext cx="2103120" cy="621792"/>
          </a:xfrm>
          <a:prstGeom prst="roundRect">
            <a:avLst>
              <a:gd name="adj" fmla="val 11765"/>
            </a:avLst>
          </a:prstGeom>
          <a:solidFill>
            <a:schemeClr val="accent1"/>
          </a:solidFill>
          <a:ln/>
        </p:spPr>
        <p:txBody>
          <a:bodyPr wrap="square" lIns="762" tIns="762" rIns="762" bIns="762" rtlCol="0" anchor="ctr"/>
          <a:lstStyle/>
          <a:p>
            <a:pPr algn="ctr" indent="0" marL="0">
              <a:buNone/>
            </a:pPr>
            <a:r>
              <a:rPr lang="en-US" sz="1300" b="1" dirty="0">
                <a:solidFill>
                  <a:schemeClr val="bg1"/>
                </a:solidFill>
              </a:rPr>
              <a:t>Agent orchestration</a:t>
            </a:r>
            <a:endParaRPr lang="en-US" sz="1300" dirty="0"/>
          </a:p>
        </p:txBody>
      </p:sp>
      <p:sp>
        <p:nvSpPr>
          <p:cNvPr id="17" name="Text 14"/>
          <p:cNvSpPr txBox="1"/>
          <p:nvPr/>
        </p:nvSpPr>
        <p:spPr>
          <a:xfrm>
            <a:off x="2880360" y="2926080"/>
            <a:ext cx="1627632"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Single or multi-view</a:t>
            </a:r>
            <a:endParaRPr lang="en-US" sz="1100" dirty="0"/>
          </a:p>
        </p:txBody>
      </p:sp>
      <p:sp>
        <p:nvSpPr>
          <p:cNvPr id="18" name="Text 15"/>
          <p:cNvSpPr txBox="1"/>
          <p:nvPr/>
        </p:nvSpPr>
        <p:spPr>
          <a:xfrm>
            <a:off x="4645152" y="2926080"/>
            <a:ext cx="1627632"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Backend chain</a:t>
            </a:r>
            <a:endParaRPr lang="en-US" sz="1100" dirty="0"/>
          </a:p>
        </p:txBody>
      </p:sp>
      <p:sp>
        <p:nvSpPr>
          <p:cNvPr id="19" name="Text 16"/>
          <p:cNvSpPr txBox="1"/>
          <p:nvPr/>
        </p:nvSpPr>
        <p:spPr>
          <a:xfrm>
            <a:off x="6409944" y="2926080"/>
            <a:ext cx="1627632"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N seeds per backend</a:t>
            </a:r>
            <a:endParaRPr lang="en-US" sz="1100" dirty="0"/>
          </a:p>
        </p:txBody>
      </p:sp>
      <p:sp>
        <p:nvSpPr>
          <p:cNvPr id="20" name="Text 17"/>
          <p:cNvSpPr txBox="1"/>
          <p:nvPr/>
        </p:nvSpPr>
        <p:spPr>
          <a:xfrm>
            <a:off x="8174736" y="2926080"/>
            <a:ext cx="1627632"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Time budget + OOM back-off</a:t>
            </a:r>
            <a:endParaRPr lang="en-US" sz="1100" dirty="0"/>
          </a:p>
        </p:txBody>
      </p:sp>
      <p:sp>
        <p:nvSpPr>
          <p:cNvPr id="21" name="Text 18"/>
          <p:cNvSpPr txBox="1"/>
          <p:nvPr/>
        </p:nvSpPr>
        <p:spPr>
          <a:xfrm>
            <a:off x="9939528" y="2926080"/>
            <a:ext cx="1627632"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Select best</a:t>
            </a:r>
            <a:endParaRPr lang="en-US" sz="1100" dirty="0"/>
          </a:p>
        </p:txBody>
      </p:sp>
      <p:sp>
        <p:nvSpPr>
          <p:cNvPr id="22" name="Shape 19"/>
          <p:cNvSpPr/>
          <p:nvPr/>
        </p:nvSpPr>
        <p:spPr>
          <a:xfrm>
            <a:off x="1600200" y="3547872"/>
            <a:ext cx="0" cy="201168"/>
          </a:xfrm>
          <a:prstGeom prst="line">
            <a:avLst/>
          </a:prstGeom>
          <a:noFill/>
          <a:ln w="22225">
            <a:solidFill>
              <a:schemeClr val="tx2"/>
            </a:solidFill>
            <a:prstDash val="solid"/>
            <a:tailEnd type="triangle"/>
          </a:ln>
        </p:spPr>
      </p:sp>
      <p:sp>
        <p:nvSpPr>
          <p:cNvPr id="23" name="Text 20"/>
          <p:cNvSpPr txBox="1"/>
          <p:nvPr/>
        </p:nvSpPr>
        <p:spPr>
          <a:xfrm>
            <a:off x="548640" y="3749040"/>
            <a:ext cx="2103120" cy="621792"/>
          </a:xfrm>
          <a:prstGeom prst="roundRect">
            <a:avLst>
              <a:gd name="adj" fmla="val 11765"/>
            </a:avLst>
          </a:prstGeom>
          <a:solidFill>
            <a:schemeClr val="accent2"/>
          </a:solidFill>
          <a:ln/>
        </p:spPr>
        <p:txBody>
          <a:bodyPr wrap="square" lIns="762" tIns="762" rIns="762" bIns="762" rtlCol="0" anchor="ctr"/>
          <a:lstStyle/>
          <a:p>
            <a:pPr algn="ctr" indent="0" marL="0">
              <a:buNone/>
            </a:pPr>
            <a:r>
              <a:rPr lang="en-US" sz="1300" b="1" dirty="0">
                <a:solidFill>
                  <a:schemeClr val="bg1"/>
                </a:solidFill>
              </a:rPr>
              <a:t>3D generation</a:t>
            </a:r>
            <a:endParaRPr lang="en-US" sz="1300" dirty="0"/>
          </a:p>
        </p:txBody>
      </p:sp>
      <p:sp>
        <p:nvSpPr>
          <p:cNvPr id="24" name="Text 21"/>
          <p:cNvSpPr txBox="1"/>
          <p:nvPr/>
        </p:nvSpPr>
        <p:spPr>
          <a:xfrm>
            <a:off x="2880360" y="3749040"/>
            <a:ext cx="2804160"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Hunyuan3D-2mv (2-4 views)</a:t>
            </a:r>
            <a:endParaRPr lang="en-US" sz="1100" dirty="0"/>
          </a:p>
        </p:txBody>
      </p:sp>
      <p:sp>
        <p:nvSpPr>
          <p:cNvPr id="25" name="Text 22"/>
          <p:cNvSpPr txBox="1"/>
          <p:nvPr/>
        </p:nvSpPr>
        <p:spPr>
          <a:xfrm>
            <a:off x="5821680" y="3749040"/>
            <a:ext cx="2804160"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Hunyuan3D-2mini</a:t>
            </a:r>
            <a:endParaRPr lang="en-US" sz="1100" dirty="0"/>
          </a:p>
        </p:txBody>
      </p:sp>
      <p:sp>
        <p:nvSpPr>
          <p:cNvPr id="26" name="Text 23"/>
          <p:cNvSpPr txBox="1"/>
          <p:nvPr/>
        </p:nvSpPr>
        <p:spPr>
          <a:xfrm>
            <a:off x="8763000" y="3749040"/>
            <a:ext cx="2804160"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TripoSR (if installed)</a:t>
            </a:r>
            <a:endParaRPr lang="en-US" sz="1100" dirty="0"/>
          </a:p>
        </p:txBody>
      </p:sp>
      <p:sp>
        <p:nvSpPr>
          <p:cNvPr id="27" name="Shape 24"/>
          <p:cNvSpPr/>
          <p:nvPr/>
        </p:nvSpPr>
        <p:spPr>
          <a:xfrm>
            <a:off x="1600200" y="4370832"/>
            <a:ext cx="0" cy="201168"/>
          </a:xfrm>
          <a:prstGeom prst="line">
            <a:avLst/>
          </a:prstGeom>
          <a:noFill/>
          <a:ln w="22225">
            <a:solidFill>
              <a:schemeClr val="tx2"/>
            </a:solidFill>
            <a:prstDash val="solid"/>
            <a:tailEnd type="triangle"/>
          </a:ln>
        </p:spPr>
      </p:sp>
      <p:sp>
        <p:nvSpPr>
          <p:cNvPr id="28" name="Text 25"/>
          <p:cNvSpPr txBox="1"/>
          <p:nvPr/>
        </p:nvSpPr>
        <p:spPr>
          <a:xfrm>
            <a:off x="548640" y="4572000"/>
            <a:ext cx="2103120" cy="621792"/>
          </a:xfrm>
          <a:prstGeom prst="roundRect">
            <a:avLst>
              <a:gd name="adj" fmla="val 11765"/>
            </a:avLst>
          </a:prstGeom>
          <a:solidFill>
            <a:schemeClr val="accent2"/>
          </a:solidFill>
          <a:ln/>
        </p:spPr>
        <p:txBody>
          <a:bodyPr wrap="square" lIns="762" tIns="762" rIns="762" bIns="762" rtlCol="0" anchor="ctr"/>
          <a:lstStyle/>
          <a:p>
            <a:pPr algn="ctr" indent="0" marL="0">
              <a:buNone/>
            </a:pPr>
            <a:r>
              <a:rPr lang="en-US" sz="1300" b="1" dirty="0">
                <a:solidFill>
                  <a:schemeClr val="bg1"/>
                </a:solidFill>
              </a:rPr>
              <a:t>Evaluation + postprocess</a:t>
            </a:r>
            <a:endParaRPr lang="en-US" sz="1300" dirty="0"/>
          </a:p>
        </p:txBody>
      </p:sp>
      <p:sp>
        <p:nvSpPr>
          <p:cNvPr id="29" name="Text 26"/>
          <p:cNvSpPr txBox="1"/>
          <p:nvPr/>
        </p:nvSpPr>
        <p:spPr>
          <a:xfrm>
            <a:off x="2880360" y="4572000"/>
            <a:ext cx="2804160"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Mesh clean + decimate</a:t>
            </a:r>
            <a:endParaRPr lang="en-US" sz="1100" dirty="0"/>
          </a:p>
        </p:txBody>
      </p:sp>
      <p:sp>
        <p:nvSpPr>
          <p:cNvPr id="30" name="Text 27"/>
          <p:cNvSpPr txBox="1"/>
          <p:nvPr/>
        </p:nvSpPr>
        <p:spPr>
          <a:xfrm>
            <a:off x="5821680" y="4572000"/>
            <a:ext cx="2804160"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Silhouette IoU (24 poses)</a:t>
            </a:r>
            <a:endParaRPr lang="en-US" sz="1100" dirty="0"/>
          </a:p>
        </p:txBody>
      </p:sp>
      <p:sp>
        <p:nvSpPr>
          <p:cNvPr id="31" name="Text 28"/>
          <p:cNvSpPr txBox="1"/>
          <p:nvPr/>
        </p:nvSpPr>
        <p:spPr>
          <a:xfrm>
            <a:off x="8763000" y="4572000"/>
            <a:ext cx="2804160"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Orient + colour projection</a:t>
            </a:r>
            <a:endParaRPr lang="en-US" sz="1100" dirty="0"/>
          </a:p>
        </p:txBody>
      </p:sp>
      <p:sp>
        <p:nvSpPr>
          <p:cNvPr id="32" name="Shape 29"/>
          <p:cNvSpPr/>
          <p:nvPr/>
        </p:nvSpPr>
        <p:spPr>
          <a:xfrm>
            <a:off x="1600200" y="5193792"/>
            <a:ext cx="0" cy="201168"/>
          </a:xfrm>
          <a:prstGeom prst="line">
            <a:avLst/>
          </a:prstGeom>
          <a:noFill/>
          <a:ln w="22225">
            <a:solidFill>
              <a:schemeClr val="tx2"/>
            </a:solidFill>
            <a:prstDash val="solid"/>
            <a:tailEnd type="triangle"/>
          </a:ln>
        </p:spPr>
      </p:sp>
      <p:sp>
        <p:nvSpPr>
          <p:cNvPr id="33" name="Text 30"/>
          <p:cNvSpPr txBox="1"/>
          <p:nvPr/>
        </p:nvSpPr>
        <p:spPr>
          <a:xfrm>
            <a:off x="548640" y="5394960"/>
            <a:ext cx="2103120" cy="621792"/>
          </a:xfrm>
          <a:prstGeom prst="roundRect">
            <a:avLst>
              <a:gd name="adj" fmla="val 11765"/>
            </a:avLst>
          </a:prstGeom>
          <a:solidFill>
            <a:schemeClr val="accent4"/>
          </a:solidFill>
          <a:ln/>
        </p:spPr>
        <p:txBody>
          <a:bodyPr wrap="square" lIns="762" tIns="762" rIns="762" bIns="762" rtlCol="0" anchor="ctr"/>
          <a:lstStyle/>
          <a:p>
            <a:pPr algn="ctr" indent="0" marL="0">
              <a:buNone/>
            </a:pPr>
            <a:r>
              <a:rPr lang="en-US" sz="1300" b="1" dirty="0">
                <a:solidFill>
                  <a:schemeClr val="bg1"/>
                </a:solidFill>
              </a:rPr>
              <a:t>Output</a:t>
            </a:r>
            <a:endParaRPr lang="en-US" sz="1300" dirty="0"/>
          </a:p>
        </p:txBody>
      </p:sp>
      <p:sp>
        <p:nvSpPr>
          <p:cNvPr id="34" name="Text 31"/>
          <p:cNvSpPr txBox="1"/>
          <p:nvPr/>
        </p:nvSpPr>
        <p:spPr>
          <a:xfrm>
            <a:off x="2880360" y="5394960"/>
            <a:ext cx="1627632"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GLB, OBJ, STL</a:t>
            </a:r>
            <a:endParaRPr lang="en-US" sz="1100" dirty="0"/>
          </a:p>
        </p:txBody>
      </p:sp>
      <p:sp>
        <p:nvSpPr>
          <p:cNvPr id="35" name="Text 32"/>
          <p:cNvSpPr txBox="1"/>
          <p:nvPr/>
        </p:nvSpPr>
        <p:spPr>
          <a:xfrm>
            <a:off x="4645152" y="5394960"/>
            <a:ext cx="1627632"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Preview PNG</a:t>
            </a:r>
            <a:endParaRPr lang="en-US" sz="1100" dirty="0"/>
          </a:p>
        </p:txBody>
      </p:sp>
      <p:sp>
        <p:nvSpPr>
          <p:cNvPr id="36" name="Text 33"/>
          <p:cNvSpPr txBox="1"/>
          <p:nvPr/>
        </p:nvSpPr>
        <p:spPr>
          <a:xfrm>
            <a:off x="6409944" y="5394960"/>
            <a:ext cx="1627632"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JSON report</a:t>
            </a:r>
            <a:endParaRPr lang="en-US" sz="1100" dirty="0"/>
          </a:p>
        </p:txBody>
      </p:sp>
      <p:sp>
        <p:nvSpPr>
          <p:cNvPr id="37" name="Text 34"/>
          <p:cNvSpPr txBox="1"/>
          <p:nvPr/>
        </p:nvSpPr>
        <p:spPr>
          <a:xfrm>
            <a:off x="8174736" y="5394960"/>
            <a:ext cx="1627632" cy="621792"/>
          </a:xfrm>
          <a:prstGeom prst="roundRect">
            <a:avLst>
              <a:gd name="adj" fmla="val 11765"/>
            </a:avLst>
          </a:prstGeom>
          <a:solidFill>
            <a:schemeClr val="bg2"/>
          </a:solidFill>
          <a:ln/>
        </p:spPr>
        <p:txBody>
          <a:bodyPr wrap="square" lIns="762" tIns="762" rIns="762" bIns="762" rtlCol="0" anchor="ctr"/>
          <a:lstStyle/>
          <a:p>
            <a:pPr algn="ctr" indent="0" marL="0">
              <a:buNone/>
            </a:pPr>
            <a:r>
              <a:rPr lang="en-US" sz="1100" dirty="0">
                <a:solidFill>
                  <a:schemeClr val="tx1"/>
                </a:solidFill>
              </a:rPr>
              <a:t>ZIP bundle</a:t>
            </a:r>
            <a:endParaRPr lang="en-US" sz="1100" dirty="0"/>
          </a:p>
        </p:txBody>
      </p:sp>
      <p:sp>
        <p:nvSpPr>
          <p:cNvPr id="38" name="Text 35"/>
          <p:cNvSpPr txBox="1"/>
          <p:nvPr/>
        </p:nvSpPr>
        <p:spPr>
          <a:xfrm>
            <a:off x="9939528" y="5394960"/>
            <a:ext cx="1627632" cy="621792"/>
          </a:xfrm>
          <a:prstGeom prst="roundRect">
            <a:avLst>
              <a:gd name="adj" fmla="val 11765"/>
            </a:avLst>
          </a:prstGeom>
          <a:solidFill>
            <a:schemeClr val="bg2"/>
          </a:solidFill>
          <a:ln w="19050">
            <a:solidFill>
              <a:schemeClr val="accent3"/>
            </a:solidFill>
            <a:prstDash val="dash"/>
          </a:ln>
        </p:spPr>
        <p:txBody>
          <a:bodyPr wrap="square" lIns="762" tIns="762" rIns="762" bIns="762" rtlCol="0" anchor="ctr"/>
          <a:lstStyle/>
          <a:p>
            <a:pPr algn="ctr" indent="0" marL="0">
              <a:buNone/>
            </a:pPr>
            <a:r>
              <a:rPr lang="en-US" sz="1100" dirty="0">
                <a:solidFill>
                  <a:schemeClr val="tx1"/>
                </a:solidFill>
              </a:rPr>
              <a:t>OPT: Gradio UI, batch CSV</a:t>
            </a:r>
            <a:endParaRPr lang="en-US" sz="1100" dirty="0"/>
          </a:p>
        </p:txBody>
      </p:sp>
      <p:sp>
        <p:nvSpPr>
          <p:cNvPr id="39" name="Text 36"/>
          <p:cNvSpPr txBox="1"/>
          <p:nvPr/>
        </p:nvSpPr>
        <p:spPr>
          <a:xfrm>
            <a:off x="2880360" y="6126480"/>
            <a:ext cx="8686800" cy="274320"/>
          </a:xfrm>
          <a:prstGeom prst="rect">
            <a:avLst/>
          </a:prstGeom>
          <a:noFill/>
          <a:ln/>
        </p:spPr>
        <p:txBody>
          <a:bodyPr wrap="square" lIns="0" tIns="0" rIns="0" bIns="0" rtlCol="0" anchor="t"/>
          <a:lstStyle/>
          <a:p>
            <a:pPr indent="0" marL="0">
              <a:buNone/>
            </a:pPr>
            <a:r>
              <a:rPr lang="en-US" sz="1100" i="1" dirty="0">
                <a:solidFill>
                  <a:schemeClr val="tx2"/>
                </a:solidFill>
              </a:rPr>
              <a:t>Dashed = optional, outside the core Colab flow. Generation and evaluation repeat per seed and backend.</a:t>
            </a:r>
            <a:endParaRPr lang="en-US" sz="11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2354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Input Modes and Preprocessing</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4"/>
          </a:solidFill>
          <a:ln/>
        </p:spPr>
        <p:txBody>
          <a:bodyPr wrap="square" lIns="0" tIns="0" rIns="0" bIns="0" rtlCol="0" anchor="ctr"/>
          <a:lstStyle/>
          <a:p>
            <a:pPr algn="ctr" indent="0" marL="0">
              <a:buNone/>
            </a:pPr>
            <a:r>
              <a:rPr lang="en-US" sz="1000" b="1" dirty="0">
                <a:solidFill>
                  <a:schemeClr val="bg1"/>
                </a:solidFill>
              </a:rPr>
              <a:t>IMPLEMENTED</a:t>
            </a:r>
            <a:endParaRPr lang="en-US" sz="1000" dirty="0"/>
          </a:p>
        </p:txBody>
      </p:sp>
      <p:sp>
        <p:nvSpPr>
          <p:cNvPr id="5" name="Text 2"/>
          <p:cNvSpPr txBox="1"/>
          <p:nvPr/>
        </p:nvSpPr>
        <p:spPr>
          <a:xfrm>
            <a:off x="548640" y="1417320"/>
            <a:ext cx="1554480" cy="777240"/>
          </a:xfrm>
          <a:prstGeom prst="roundRect">
            <a:avLst>
              <a:gd name="adj" fmla="val 9412"/>
            </a:avLst>
          </a:prstGeom>
          <a:solidFill>
            <a:schemeClr val="accent1"/>
          </a:solidFill>
          <a:ln/>
        </p:spPr>
        <p:txBody>
          <a:bodyPr wrap="square" lIns="762" tIns="762" rIns="762" bIns="762" rtlCol="0" anchor="ctr"/>
          <a:lstStyle/>
          <a:p>
            <a:pPr algn="ctr" indent="0" marL="0">
              <a:buNone/>
            </a:pPr>
            <a:r>
              <a:rPr lang="en-US" sz="1300" dirty="0">
                <a:solidFill>
                  <a:schemeClr val="bg1"/>
                </a:solidFill>
              </a:rPr>
              <a:t>Image</a:t>
            </a:r>
            <a:endParaRPr lang="en-US" sz="1300" dirty="0"/>
          </a:p>
        </p:txBody>
      </p:sp>
      <p:sp>
        <p:nvSpPr>
          <p:cNvPr id="6" name="Shape 3"/>
          <p:cNvSpPr/>
          <p:nvPr/>
        </p:nvSpPr>
        <p:spPr>
          <a:xfrm>
            <a:off x="2121408" y="1805940"/>
            <a:ext cx="274320" cy="0"/>
          </a:xfrm>
          <a:prstGeom prst="line">
            <a:avLst/>
          </a:prstGeom>
          <a:noFill/>
          <a:ln w="22225">
            <a:solidFill>
              <a:schemeClr val="tx2"/>
            </a:solidFill>
            <a:prstDash val="solid"/>
            <a:tailEnd type="triangle"/>
          </a:ln>
        </p:spPr>
      </p:sp>
      <p:sp>
        <p:nvSpPr>
          <p:cNvPr id="7" name="Text 4"/>
          <p:cNvSpPr txBox="1"/>
          <p:nvPr/>
        </p:nvSpPr>
        <p:spPr>
          <a:xfrm>
            <a:off x="2423160" y="1417320"/>
            <a:ext cx="1554480" cy="777240"/>
          </a:xfrm>
          <a:prstGeom prst="roundRect">
            <a:avLst>
              <a:gd name="adj" fmla="val 9412"/>
            </a:avLst>
          </a:prstGeom>
          <a:solidFill>
            <a:schemeClr val="accent1"/>
          </a:solidFill>
          <a:ln/>
        </p:spPr>
        <p:txBody>
          <a:bodyPr wrap="square" lIns="762" tIns="762" rIns="762" bIns="762" rtlCol="0" anchor="ctr"/>
          <a:lstStyle/>
          <a:p>
            <a:pPr algn="ctr" indent="0" marL="0">
              <a:buNone/>
            </a:pPr>
            <a:r>
              <a:rPr lang="en-US" sz="1300" dirty="0">
                <a:solidFill>
                  <a:schemeClr val="bg1"/>
                </a:solidFill>
              </a:rPr>
              <a:t>Background removal</a:t>
            </a:r>
            <a:endParaRPr lang="en-US" sz="1300" dirty="0"/>
          </a:p>
        </p:txBody>
      </p:sp>
      <p:sp>
        <p:nvSpPr>
          <p:cNvPr id="8" name="Shape 5"/>
          <p:cNvSpPr/>
          <p:nvPr/>
        </p:nvSpPr>
        <p:spPr>
          <a:xfrm>
            <a:off x="3995928" y="1805940"/>
            <a:ext cx="274320" cy="0"/>
          </a:xfrm>
          <a:prstGeom prst="line">
            <a:avLst/>
          </a:prstGeom>
          <a:noFill/>
          <a:ln w="22225">
            <a:solidFill>
              <a:schemeClr val="tx2"/>
            </a:solidFill>
            <a:prstDash val="solid"/>
            <a:tailEnd type="triangle"/>
          </a:ln>
        </p:spPr>
      </p:sp>
      <p:sp>
        <p:nvSpPr>
          <p:cNvPr id="9" name="Text 6"/>
          <p:cNvSpPr txBox="1"/>
          <p:nvPr/>
        </p:nvSpPr>
        <p:spPr>
          <a:xfrm>
            <a:off x="4297680" y="1417320"/>
            <a:ext cx="1554480" cy="777240"/>
          </a:xfrm>
          <a:prstGeom prst="roundRect">
            <a:avLst>
              <a:gd name="adj" fmla="val 9412"/>
            </a:avLst>
          </a:prstGeom>
          <a:solidFill>
            <a:schemeClr val="accent1"/>
          </a:solidFill>
          <a:ln/>
        </p:spPr>
        <p:txBody>
          <a:bodyPr wrap="square" lIns="762" tIns="762" rIns="762" bIns="762" rtlCol="0" anchor="ctr"/>
          <a:lstStyle/>
          <a:p>
            <a:pPr algn="ctr" indent="0" marL="0">
              <a:buNone/>
            </a:pPr>
            <a:r>
              <a:rPr lang="en-US" sz="1300" dirty="0">
                <a:solidFill>
                  <a:schemeClr val="bg1"/>
                </a:solidFill>
              </a:rPr>
              <a:t>Foreground mask</a:t>
            </a:r>
            <a:endParaRPr lang="en-US" sz="1300" dirty="0"/>
          </a:p>
        </p:txBody>
      </p:sp>
      <p:sp>
        <p:nvSpPr>
          <p:cNvPr id="10" name="Shape 7"/>
          <p:cNvSpPr/>
          <p:nvPr/>
        </p:nvSpPr>
        <p:spPr>
          <a:xfrm>
            <a:off x="5870448" y="1805940"/>
            <a:ext cx="274320" cy="0"/>
          </a:xfrm>
          <a:prstGeom prst="line">
            <a:avLst/>
          </a:prstGeom>
          <a:noFill/>
          <a:ln w="22225">
            <a:solidFill>
              <a:schemeClr val="tx2"/>
            </a:solidFill>
            <a:prstDash val="solid"/>
            <a:tailEnd type="triangle"/>
          </a:ln>
        </p:spPr>
      </p:sp>
      <p:sp>
        <p:nvSpPr>
          <p:cNvPr id="11" name="Text 8"/>
          <p:cNvSpPr txBox="1"/>
          <p:nvPr/>
        </p:nvSpPr>
        <p:spPr>
          <a:xfrm>
            <a:off x="6172200" y="1417320"/>
            <a:ext cx="1554480" cy="777240"/>
          </a:xfrm>
          <a:prstGeom prst="roundRect">
            <a:avLst>
              <a:gd name="adj" fmla="val 9412"/>
            </a:avLst>
          </a:prstGeom>
          <a:solidFill>
            <a:schemeClr val="accent1"/>
          </a:solidFill>
          <a:ln/>
        </p:spPr>
        <p:txBody>
          <a:bodyPr wrap="square" lIns="762" tIns="762" rIns="762" bIns="762" rtlCol="0" anchor="ctr"/>
          <a:lstStyle/>
          <a:p>
            <a:pPr algn="ctr" indent="0" marL="0">
              <a:buNone/>
            </a:pPr>
            <a:r>
              <a:rPr lang="en-US" sz="1300" dirty="0">
                <a:solidFill>
                  <a:schemeClr val="bg1"/>
                </a:solidFill>
              </a:rPr>
              <a:t>Crop and centre</a:t>
            </a:r>
            <a:endParaRPr lang="en-US" sz="1300" dirty="0"/>
          </a:p>
        </p:txBody>
      </p:sp>
      <p:sp>
        <p:nvSpPr>
          <p:cNvPr id="12" name="Shape 9"/>
          <p:cNvSpPr/>
          <p:nvPr/>
        </p:nvSpPr>
        <p:spPr>
          <a:xfrm>
            <a:off x="7744968" y="1805940"/>
            <a:ext cx="274320" cy="0"/>
          </a:xfrm>
          <a:prstGeom prst="line">
            <a:avLst/>
          </a:prstGeom>
          <a:noFill/>
          <a:ln w="22225">
            <a:solidFill>
              <a:schemeClr val="tx2"/>
            </a:solidFill>
            <a:prstDash val="solid"/>
            <a:tailEnd type="triangle"/>
          </a:ln>
        </p:spPr>
      </p:sp>
      <p:sp>
        <p:nvSpPr>
          <p:cNvPr id="13" name="Text 10"/>
          <p:cNvSpPr txBox="1"/>
          <p:nvPr/>
        </p:nvSpPr>
        <p:spPr>
          <a:xfrm>
            <a:off x="8046720" y="1417320"/>
            <a:ext cx="1554480" cy="777240"/>
          </a:xfrm>
          <a:prstGeom prst="roundRect">
            <a:avLst>
              <a:gd name="adj" fmla="val 9412"/>
            </a:avLst>
          </a:prstGeom>
          <a:solidFill>
            <a:schemeClr val="accent2"/>
          </a:solidFill>
          <a:ln/>
        </p:spPr>
        <p:txBody>
          <a:bodyPr wrap="square" lIns="762" tIns="762" rIns="762" bIns="762" rtlCol="0" anchor="ctr"/>
          <a:lstStyle/>
          <a:p>
            <a:pPr algn="ctr" indent="0" marL="0">
              <a:buNone/>
            </a:pPr>
            <a:r>
              <a:rPr lang="en-US" sz="1300" dirty="0">
                <a:solidFill>
                  <a:schemeClr val="bg1"/>
                </a:solidFill>
              </a:rPr>
              <a:t>512x512 RGBA</a:t>
            </a:r>
            <a:endParaRPr lang="en-US" sz="1300" dirty="0"/>
          </a:p>
        </p:txBody>
      </p:sp>
      <p:sp>
        <p:nvSpPr>
          <p:cNvPr id="14" name="Shape 11"/>
          <p:cNvSpPr/>
          <p:nvPr/>
        </p:nvSpPr>
        <p:spPr>
          <a:xfrm>
            <a:off x="9619488" y="1805940"/>
            <a:ext cx="274320" cy="0"/>
          </a:xfrm>
          <a:prstGeom prst="line">
            <a:avLst/>
          </a:prstGeom>
          <a:noFill/>
          <a:ln w="22225">
            <a:solidFill>
              <a:schemeClr val="tx2"/>
            </a:solidFill>
            <a:prstDash val="solid"/>
            <a:tailEnd type="triangle"/>
          </a:ln>
        </p:spPr>
      </p:sp>
      <p:sp>
        <p:nvSpPr>
          <p:cNvPr id="15" name="Text 12"/>
          <p:cNvSpPr txBox="1"/>
          <p:nvPr/>
        </p:nvSpPr>
        <p:spPr>
          <a:xfrm>
            <a:off x="9921240" y="1417320"/>
            <a:ext cx="1554480" cy="777240"/>
          </a:xfrm>
          <a:prstGeom prst="roundRect">
            <a:avLst>
              <a:gd name="adj" fmla="val 9412"/>
            </a:avLst>
          </a:prstGeom>
          <a:solidFill>
            <a:schemeClr val="accent1"/>
          </a:solidFill>
          <a:ln/>
        </p:spPr>
        <p:txBody>
          <a:bodyPr wrap="square" lIns="762" tIns="762" rIns="762" bIns="762" rtlCol="0" anchor="ctr"/>
          <a:lstStyle/>
          <a:p>
            <a:pPr algn="ctr" indent="0" marL="0">
              <a:buNone/>
            </a:pPr>
            <a:r>
              <a:rPr lang="en-US" sz="1300" dirty="0">
                <a:solidFill>
                  <a:schemeClr val="bg1"/>
                </a:solidFill>
              </a:rPr>
              <a:t>Quality analysis</a:t>
            </a:r>
            <a:endParaRPr lang="en-US" sz="1300" dirty="0"/>
          </a:p>
        </p:txBody>
      </p:sp>
      <p:sp>
        <p:nvSpPr>
          <p:cNvPr id="16" name="Text 13"/>
          <p:cNvSpPr txBox="1"/>
          <p:nvPr/>
        </p:nvSpPr>
        <p:spPr>
          <a:xfrm>
            <a:off x="548640" y="2651760"/>
            <a:ext cx="3566160" cy="411480"/>
          </a:xfrm>
          <a:prstGeom prst="roundRect">
            <a:avLst>
              <a:gd name="adj" fmla="val 17778"/>
            </a:avLst>
          </a:prstGeom>
          <a:solidFill>
            <a:schemeClr val="accent6"/>
          </a:solidFill>
          <a:ln/>
        </p:spPr>
        <p:txBody>
          <a:bodyPr wrap="square" lIns="762" tIns="762" rIns="762" bIns="762" rtlCol="0" anchor="ctr"/>
          <a:lstStyle/>
          <a:p>
            <a:pPr algn="ctr" indent="0" marL="0">
              <a:buNone/>
            </a:pPr>
            <a:r>
              <a:rPr lang="en-US" sz="1400" b="1" dirty="0">
                <a:solidFill>
                  <a:schemeClr val="bg1"/>
                </a:solidFill>
              </a:rPr>
              <a:t>Input modes</a:t>
            </a:r>
            <a:endParaRPr lang="en-US" sz="1400" dirty="0"/>
          </a:p>
        </p:txBody>
      </p:sp>
      <p:sp>
        <p:nvSpPr>
          <p:cNvPr id="17" name="Text 14"/>
          <p:cNvSpPr txBox="1"/>
          <p:nvPr/>
        </p:nvSpPr>
        <p:spPr>
          <a:xfrm>
            <a:off x="548640" y="3200400"/>
            <a:ext cx="356616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Single view: one image is used as 'front'</a:t>
            </a:r>
            <a:endParaRPr lang="en-US" sz="1400" dirty="0"/>
          </a:p>
          <a:p>
            <a:pPr marL="342900" indent="-342900">
              <a:spcAft>
                <a:spcPts val="600"/>
              </a:spcAft>
              <a:buSzPct val="100000"/>
              <a:buChar char="•"/>
            </a:pPr>
            <a:r>
              <a:rPr lang="en-US" sz="1400" dirty="0">
                <a:solidFill>
                  <a:schemeClr val="tx1"/>
                </a:solidFill>
              </a:rPr>
              <a:t>Multi-view: 2-4 images as front, left, back, right</a:t>
            </a:r>
            <a:endParaRPr lang="en-US" sz="1400" dirty="0"/>
          </a:p>
          <a:p>
            <a:pPr marL="342900" indent="-342900">
              <a:spcAft>
                <a:spcPts val="600"/>
              </a:spcAft>
              <a:buSzPct val="100000"/>
              <a:buChar char="•"/>
            </a:pPr>
            <a:r>
              <a:rPr lang="en-US" sz="1400" dirty="0">
                <a:solidFill>
                  <a:schemeClr val="tx1"/>
                </a:solidFill>
              </a:rPr>
              <a:t>Views are picked from filename keywords, else upload order</a:t>
            </a:r>
            <a:endParaRPr lang="en-US" sz="1400" dirty="0"/>
          </a:p>
        </p:txBody>
      </p:sp>
      <p:sp>
        <p:nvSpPr>
          <p:cNvPr id="18" name="Text 15"/>
          <p:cNvSpPr txBox="1"/>
          <p:nvPr/>
        </p:nvSpPr>
        <p:spPr>
          <a:xfrm>
            <a:off x="4297680" y="2651760"/>
            <a:ext cx="3566160" cy="411480"/>
          </a:xfrm>
          <a:prstGeom prst="roundRect">
            <a:avLst>
              <a:gd name="adj" fmla="val 17778"/>
            </a:avLst>
          </a:prstGeom>
          <a:solidFill>
            <a:schemeClr val="accent6"/>
          </a:solidFill>
          <a:ln/>
        </p:spPr>
        <p:txBody>
          <a:bodyPr wrap="square" lIns="762" tIns="762" rIns="762" bIns="762" rtlCol="0" anchor="ctr"/>
          <a:lstStyle/>
          <a:p>
            <a:pPr algn="ctr" indent="0" marL="0">
              <a:buNone/>
            </a:pPr>
            <a:r>
              <a:rPr lang="en-US" sz="1400" b="1" dirty="0">
                <a:solidFill>
                  <a:schemeClr val="bg1"/>
                </a:solidFill>
              </a:rPr>
              <a:t>What helps the result</a:t>
            </a:r>
            <a:endParaRPr lang="en-US" sz="1400" dirty="0"/>
          </a:p>
        </p:txBody>
      </p:sp>
      <p:sp>
        <p:nvSpPr>
          <p:cNvPr id="19" name="Text 16"/>
          <p:cNvSpPr txBox="1"/>
          <p:nvPr/>
        </p:nvSpPr>
        <p:spPr>
          <a:xfrm>
            <a:off x="4297680" y="3200400"/>
            <a:ext cx="356616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Plain background</a:t>
            </a:r>
            <a:endParaRPr lang="en-US" sz="1400" dirty="0"/>
          </a:p>
          <a:p>
            <a:pPr marL="342900" indent="-342900">
              <a:spcAft>
                <a:spcPts val="600"/>
              </a:spcAft>
              <a:buSzPct val="100000"/>
              <a:buChar char="•"/>
            </a:pPr>
            <a:r>
              <a:rPr lang="en-US" sz="1400" dirty="0">
                <a:solidFill>
                  <a:schemeClr val="tx1"/>
                </a:solidFill>
              </a:rPr>
              <a:t>Whole object visible</a:t>
            </a:r>
            <a:endParaRPr lang="en-US" sz="1400" dirty="0"/>
          </a:p>
          <a:p>
            <a:pPr marL="342900" indent="-342900">
              <a:spcAft>
                <a:spcPts val="600"/>
              </a:spcAft>
              <a:buSzPct val="100000"/>
              <a:buChar char="•"/>
            </a:pPr>
            <a:r>
              <a:rPr lang="en-US" sz="1400" dirty="0">
                <a:solidFill>
                  <a:schemeClr val="tx1"/>
                </a:solidFill>
              </a:rPr>
              <a:t>Sharp, adequately sized photo</a:t>
            </a:r>
            <a:endParaRPr lang="en-US" sz="1400" dirty="0"/>
          </a:p>
          <a:p>
            <a:pPr marL="342900" indent="-342900">
              <a:spcAft>
                <a:spcPts val="600"/>
              </a:spcAft>
              <a:buSzPct val="100000"/>
              <a:buChar char="•"/>
            </a:pPr>
            <a:r>
              <a:rPr lang="en-US" sz="1400" dirty="0">
                <a:solidFill>
                  <a:schemeClr val="tx1"/>
                </a:solidFill>
              </a:rPr>
              <a:t>3/4 front angle; extra views add cues</a:t>
            </a:r>
            <a:endParaRPr lang="en-US" sz="1400" dirty="0"/>
          </a:p>
        </p:txBody>
      </p:sp>
      <p:sp>
        <p:nvSpPr>
          <p:cNvPr id="20" name="Text 17"/>
          <p:cNvSpPr txBox="1"/>
          <p:nvPr/>
        </p:nvSpPr>
        <p:spPr>
          <a:xfrm>
            <a:off x="8046720" y="2651760"/>
            <a:ext cx="3566160" cy="411480"/>
          </a:xfrm>
          <a:prstGeom prst="roundRect">
            <a:avLst>
              <a:gd name="adj" fmla="val 17778"/>
            </a:avLst>
          </a:prstGeom>
          <a:solidFill>
            <a:schemeClr val="accent6"/>
          </a:solidFill>
          <a:ln/>
        </p:spPr>
        <p:txBody>
          <a:bodyPr wrap="square" lIns="762" tIns="762" rIns="762" bIns="762" rtlCol="0" anchor="ctr"/>
          <a:lstStyle/>
          <a:p>
            <a:pPr algn="ctr" indent="0" marL="0">
              <a:buNone/>
            </a:pPr>
            <a:r>
              <a:rPr lang="en-US" sz="1400" b="1" dirty="0">
                <a:solidFill>
                  <a:schemeClr val="bg1"/>
                </a:solidFill>
              </a:rPr>
              <a:t>Warnings raised by the code</a:t>
            </a:r>
            <a:endParaRPr lang="en-US" sz="1400" dirty="0"/>
          </a:p>
        </p:txBody>
      </p:sp>
      <p:sp>
        <p:nvSpPr>
          <p:cNvPr id="21" name="Text 18"/>
          <p:cNvSpPr txBox="1"/>
          <p:nvPr/>
        </p:nvSpPr>
        <p:spPr>
          <a:xfrm>
            <a:off x="8046720" y="3200400"/>
            <a:ext cx="356616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Under 256 px</a:t>
            </a:r>
            <a:endParaRPr lang="en-US" sz="1400" dirty="0"/>
          </a:p>
          <a:p>
            <a:pPr marL="342900" indent="-342900">
              <a:spcAft>
                <a:spcPts val="600"/>
              </a:spcAft>
              <a:buSzPct val="100000"/>
              <a:buChar char="•"/>
            </a:pPr>
            <a:r>
              <a:rPr lang="en-US" sz="1400" dirty="0">
                <a:solidFill>
                  <a:schemeClr val="tx1"/>
                </a:solidFill>
              </a:rPr>
              <a:t>Blurry (Laplacian variance &lt; 30)</a:t>
            </a:r>
            <a:endParaRPr lang="en-US" sz="1400" dirty="0"/>
          </a:p>
          <a:p>
            <a:pPr marL="342900" indent="-342900">
              <a:spcAft>
                <a:spcPts val="600"/>
              </a:spcAft>
              <a:buSzPct val="100000"/>
              <a:buChar char="•"/>
            </a:pPr>
            <a:r>
              <a:rPr lang="en-US" sz="1400" dirty="0">
                <a:solidFill>
                  <a:schemeClr val="tx1"/>
                </a:solidFill>
              </a:rPr>
              <a:t>Mask &lt; 10% or &gt; 92% of frame</a:t>
            </a:r>
            <a:endParaRPr lang="en-US" sz="1400" dirty="0"/>
          </a:p>
          <a:p>
            <a:pPr marL="342900" indent="-342900">
              <a:spcAft>
                <a:spcPts val="600"/>
              </a:spcAft>
              <a:buSzPct val="100000"/>
              <a:buChar char="•"/>
            </a:pPr>
            <a:r>
              <a:rPr lang="en-US" sz="1400" dirty="0">
                <a:solidFill>
                  <a:schemeClr val="tx1"/>
                </a:solidFill>
              </a:rPr>
              <a:t>Fragmented mask (main blob &lt; 90%)</a:t>
            </a:r>
            <a:endParaRPr lang="en-US" sz="1400" dirty="0"/>
          </a:p>
        </p:txBody>
      </p:sp>
      <p:sp>
        <p:nvSpPr>
          <p:cNvPr id="22" name="Text 19"/>
          <p:cNvSpPr txBox="1"/>
          <p:nvPr/>
        </p:nvSpPr>
        <p:spPr>
          <a:xfrm>
            <a:off x="548640" y="5669280"/>
            <a:ext cx="10972800" cy="457200"/>
          </a:xfrm>
          <a:prstGeom prst="rect">
            <a:avLst/>
          </a:prstGeom>
          <a:noFill/>
          <a:ln/>
        </p:spPr>
        <p:txBody>
          <a:bodyPr wrap="square" lIns="0" tIns="0" rIns="0" bIns="0" rtlCol="0" anchor="t"/>
          <a:lstStyle/>
          <a:p>
            <a:pPr indent="0" marL="0">
              <a:buNone/>
            </a:pPr>
            <a:r>
              <a:rPr lang="en-US" sz="1200" i="1" dirty="0">
                <a:solidFill>
                  <a:schemeClr val="tx2"/>
                </a:solidFill>
              </a:rPr>
              <a:t>Fallback segmentation (corner-colour threshold) is a simple heuristic and can fail on busy or low-contrast backgrounds.</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2354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Intelligent Agent Orchestration</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4"/>
          </a:solidFill>
          <a:ln/>
        </p:spPr>
        <p:txBody>
          <a:bodyPr wrap="square" lIns="0" tIns="0" rIns="0" bIns="0" rtlCol="0" anchor="ctr"/>
          <a:lstStyle/>
          <a:p>
            <a:pPr algn="ctr" indent="0" marL="0">
              <a:buNone/>
            </a:pPr>
            <a:r>
              <a:rPr lang="en-US" sz="1000" b="1" dirty="0">
                <a:solidFill>
                  <a:schemeClr val="bg1"/>
                </a:solidFill>
              </a:rPr>
              <a:t>IMPLEMENTED</a:t>
            </a:r>
            <a:endParaRPr lang="en-US" sz="1000" dirty="0"/>
          </a:p>
        </p:txBody>
      </p:sp>
      <p:sp>
        <p:nvSpPr>
          <p:cNvPr id="5" name="Text 2"/>
          <p:cNvSpPr txBox="1"/>
          <p:nvPr/>
        </p:nvSpPr>
        <p:spPr>
          <a:xfrm>
            <a:off x="548640" y="1783080"/>
            <a:ext cx="1554480" cy="731520"/>
          </a:xfrm>
          <a:prstGeom prst="roundRect">
            <a:avLst>
              <a:gd name="adj" fmla="val 10000"/>
            </a:avLst>
          </a:prstGeom>
          <a:solidFill>
            <a:schemeClr val="accent1"/>
          </a:solidFill>
          <a:ln/>
        </p:spPr>
        <p:txBody>
          <a:bodyPr wrap="square" lIns="762" tIns="762" rIns="762" bIns="762" rtlCol="0" anchor="ctr"/>
          <a:lstStyle/>
          <a:p>
            <a:pPr algn="ctr" indent="0" marL="0">
              <a:buNone/>
            </a:pPr>
            <a:r>
              <a:rPr lang="en-US" sz="1200" dirty="0">
                <a:solidFill>
                  <a:schemeClr val="bg1"/>
                </a:solidFill>
              </a:rPr>
              <a:t>Analyse and plan chain</a:t>
            </a:r>
            <a:endParaRPr lang="en-US" sz="1200" dirty="0"/>
          </a:p>
        </p:txBody>
      </p:sp>
      <p:sp>
        <p:nvSpPr>
          <p:cNvPr id="6" name="Shape 3"/>
          <p:cNvSpPr/>
          <p:nvPr/>
        </p:nvSpPr>
        <p:spPr>
          <a:xfrm>
            <a:off x="2121408" y="2148840"/>
            <a:ext cx="182880" cy="0"/>
          </a:xfrm>
          <a:prstGeom prst="line">
            <a:avLst/>
          </a:prstGeom>
          <a:noFill/>
          <a:ln w="22225">
            <a:solidFill>
              <a:schemeClr val="tx2"/>
            </a:solidFill>
            <a:prstDash val="solid"/>
            <a:tailEnd type="triangle"/>
          </a:ln>
        </p:spPr>
      </p:sp>
      <p:sp>
        <p:nvSpPr>
          <p:cNvPr id="7" name="Text 4"/>
          <p:cNvSpPr txBox="1"/>
          <p:nvPr/>
        </p:nvSpPr>
        <p:spPr>
          <a:xfrm>
            <a:off x="2468880" y="1554480"/>
            <a:ext cx="1691640" cy="1188720"/>
          </a:xfrm>
          <a:prstGeom prst="diamond">
            <a:avLst/>
          </a:prstGeom>
          <a:solidFill>
            <a:schemeClr val="accent3"/>
          </a:solidFill>
          <a:ln/>
        </p:spPr>
        <p:txBody>
          <a:bodyPr wrap="square" lIns="0" tIns="0" rIns="0" bIns="0" rtlCol="0" anchor="ctr"/>
          <a:lstStyle/>
          <a:p>
            <a:pPr algn="ctr" indent="0" marL="0">
              <a:buNone/>
            </a:pPr>
            <a:r>
              <a:rPr lang="en-US" sz="1100" b="1" dirty="0">
                <a:solidFill>
                  <a:schemeClr val="bg1"/>
                </a:solidFill>
              </a:rPr>
              <a:t>Load backend</a:t>
            </a:r>
            <a:endParaRPr lang="en-US" sz="1100" dirty="0"/>
          </a:p>
        </p:txBody>
      </p:sp>
      <p:sp>
        <p:nvSpPr>
          <p:cNvPr id="8" name="Shape 5"/>
          <p:cNvSpPr/>
          <p:nvPr/>
        </p:nvSpPr>
        <p:spPr>
          <a:xfrm>
            <a:off x="4178808" y="2148840"/>
            <a:ext cx="182880" cy="0"/>
          </a:xfrm>
          <a:prstGeom prst="line">
            <a:avLst/>
          </a:prstGeom>
          <a:noFill/>
          <a:ln w="22225">
            <a:solidFill>
              <a:schemeClr val="tx2"/>
            </a:solidFill>
            <a:prstDash val="solid"/>
            <a:tailEnd type="triangle"/>
          </a:ln>
        </p:spPr>
      </p:sp>
      <p:sp>
        <p:nvSpPr>
          <p:cNvPr id="9" name="Text 6"/>
          <p:cNvSpPr txBox="1"/>
          <p:nvPr/>
        </p:nvSpPr>
        <p:spPr>
          <a:xfrm>
            <a:off x="4389120" y="1783080"/>
            <a:ext cx="1554480" cy="731520"/>
          </a:xfrm>
          <a:prstGeom prst="roundRect">
            <a:avLst>
              <a:gd name="adj" fmla="val 10000"/>
            </a:avLst>
          </a:prstGeom>
          <a:solidFill>
            <a:schemeClr val="accent1"/>
          </a:solidFill>
          <a:ln/>
        </p:spPr>
        <p:txBody>
          <a:bodyPr wrap="square" lIns="762" tIns="762" rIns="762" bIns="762" rtlCol="0" anchor="ctr"/>
          <a:lstStyle/>
          <a:p>
            <a:pPr algn="ctr" indent="0" marL="0">
              <a:buNone/>
            </a:pPr>
            <a:r>
              <a:rPr lang="en-US" sz="1200" dirty="0">
                <a:solidFill>
                  <a:schemeClr val="bg1"/>
                </a:solidFill>
              </a:rPr>
              <a:t>Generate seed k</a:t>
            </a:r>
            <a:endParaRPr lang="en-US" sz="1200" dirty="0"/>
          </a:p>
        </p:txBody>
      </p:sp>
      <p:sp>
        <p:nvSpPr>
          <p:cNvPr id="10" name="Shape 7"/>
          <p:cNvSpPr/>
          <p:nvPr/>
        </p:nvSpPr>
        <p:spPr>
          <a:xfrm>
            <a:off x="5961888" y="2148840"/>
            <a:ext cx="182880" cy="0"/>
          </a:xfrm>
          <a:prstGeom prst="line">
            <a:avLst/>
          </a:prstGeom>
          <a:noFill/>
          <a:ln w="22225">
            <a:solidFill>
              <a:schemeClr val="tx2"/>
            </a:solidFill>
            <a:prstDash val="solid"/>
            <a:tailEnd type="triangle"/>
          </a:ln>
        </p:spPr>
      </p:sp>
      <p:sp>
        <p:nvSpPr>
          <p:cNvPr id="11" name="Text 8"/>
          <p:cNvSpPr txBox="1"/>
          <p:nvPr/>
        </p:nvSpPr>
        <p:spPr>
          <a:xfrm>
            <a:off x="6309360" y="1783080"/>
            <a:ext cx="1554480" cy="731520"/>
          </a:xfrm>
          <a:prstGeom prst="roundRect">
            <a:avLst>
              <a:gd name="adj" fmla="val 10000"/>
            </a:avLst>
          </a:prstGeom>
          <a:solidFill>
            <a:schemeClr val="accent1"/>
          </a:solidFill>
          <a:ln/>
        </p:spPr>
        <p:txBody>
          <a:bodyPr wrap="square" lIns="762" tIns="762" rIns="762" bIns="762" rtlCol="0" anchor="ctr"/>
          <a:lstStyle/>
          <a:p>
            <a:pPr algn="ctr" indent="0" marL="0">
              <a:buNone/>
            </a:pPr>
            <a:r>
              <a:rPr lang="en-US" sz="1200" dirty="0">
                <a:solidFill>
                  <a:schemeClr val="bg1"/>
                </a:solidFill>
              </a:rPr>
              <a:t>Clean + silhouette IoU</a:t>
            </a:r>
            <a:endParaRPr lang="en-US" sz="1200" dirty="0"/>
          </a:p>
        </p:txBody>
      </p:sp>
      <p:sp>
        <p:nvSpPr>
          <p:cNvPr id="12" name="Shape 9"/>
          <p:cNvSpPr/>
          <p:nvPr/>
        </p:nvSpPr>
        <p:spPr>
          <a:xfrm>
            <a:off x="7882128" y="2148840"/>
            <a:ext cx="182880" cy="0"/>
          </a:xfrm>
          <a:prstGeom prst="line">
            <a:avLst/>
          </a:prstGeom>
          <a:noFill/>
          <a:ln w="22225">
            <a:solidFill>
              <a:schemeClr val="tx2"/>
            </a:solidFill>
            <a:prstDash val="solid"/>
            <a:tailEnd type="triangle"/>
          </a:ln>
        </p:spPr>
      </p:sp>
      <p:sp>
        <p:nvSpPr>
          <p:cNvPr id="13" name="Text 10"/>
          <p:cNvSpPr txBox="1"/>
          <p:nvPr/>
        </p:nvSpPr>
        <p:spPr>
          <a:xfrm>
            <a:off x="8229600" y="1554480"/>
            <a:ext cx="1691640" cy="1188720"/>
          </a:xfrm>
          <a:prstGeom prst="diamond">
            <a:avLst/>
          </a:prstGeom>
          <a:solidFill>
            <a:schemeClr val="accent3"/>
          </a:solidFill>
          <a:ln/>
        </p:spPr>
        <p:txBody>
          <a:bodyPr wrap="square" lIns="0" tIns="0" rIns="0" bIns="0" rtlCol="0" anchor="ctr"/>
          <a:lstStyle/>
          <a:p>
            <a:pPr algn="ctr" indent="0" marL="0">
              <a:buNone/>
            </a:pPr>
            <a:r>
              <a:rPr lang="en-US" sz="1100" b="1" dirty="0">
                <a:solidFill>
                  <a:schemeClr val="bg1"/>
                </a:solidFill>
              </a:rPr>
              <a:t>Best IoU &gt;= 0.85?</a:t>
            </a:r>
            <a:endParaRPr lang="en-US" sz="1100" dirty="0"/>
          </a:p>
        </p:txBody>
      </p:sp>
      <p:sp>
        <p:nvSpPr>
          <p:cNvPr id="14" name="Shape 11"/>
          <p:cNvSpPr/>
          <p:nvPr/>
        </p:nvSpPr>
        <p:spPr>
          <a:xfrm>
            <a:off x="9939528" y="2148840"/>
            <a:ext cx="182880" cy="0"/>
          </a:xfrm>
          <a:prstGeom prst="line">
            <a:avLst/>
          </a:prstGeom>
          <a:noFill/>
          <a:ln w="22225">
            <a:solidFill>
              <a:schemeClr val="tx2"/>
            </a:solidFill>
            <a:prstDash val="solid"/>
            <a:tailEnd type="triangle"/>
          </a:ln>
        </p:spPr>
      </p:sp>
      <p:sp>
        <p:nvSpPr>
          <p:cNvPr id="15" name="Text 12"/>
          <p:cNvSpPr txBox="1"/>
          <p:nvPr/>
        </p:nvSpPr>
        <p:spPr>
          <a:xfrm>
            <a:off x="10149840" y="1783080"/>
            <a:ext cx="1554480" cy="731520"/>
          </a:xfrm>
          <a:prstGeom prst="roundRect">
            <a:avLst>
              <a:gd name="adj" fmla="val 10000"/>
            </a:avLst>
          </a:prstGeom>
          <a:solidFill>
            <a:schemeClr val="accent4"/>
          </a:solidFill>
          <a:ln/>
        </p:spPr>
        <p:txBody>
          <a:bodyPr wrap="square" lIns="762" tIns="762" rIns="762" bIns="762" rtlCol="0" anchor="ctr"/>
          <a:lstStyle/>
          <a:p>
            <a:pPr algn="ctr" indent="0" marL="0">
              <a:buNone/>
            </a:pPr>
            <a:r>
              <a:rPr lang="en-US" sz="1200" dirty="0">
                <a:solidFill>
                  <a:schemeClr val="bg1"/>
                </a:solidFill>
              </a:rPr>
              <a:t>Pick best, finish</a:t>
            </a:r>
            <a:endParaRPr lang="en-US" sz="1200" dirty="0"/>
          </a:p>
        </p:txBody>
      </p:sp>
      <p:sp>
        <p:nvSpPr>
          <p:cNvPr id="16" name="Shape 13"/>
          <p:cNvSpPr/>
          <p:nvPr/>
        </p:nvSpPr>
        <p:spPr>
          <a:xfrm>
            <a:off x="3246120" y="2788920"/>
            <a:ext cx="0" cy="457200"/>
          </a:xfrm>
          <a:prstGeom prst="line">
            <a:avLst/>
          </a:prstGeom>
          <a:noFill/>
          <a:ln w="22225">
            <a:solidFill>
              <a:schemeClr val="accent3"/>
            </a:solidFill>
            <a:prstDash val="solid"/>
            <a:tailEnd type="triangle"/>
          </a:ln>
        </p:spPr>
      </p:sp>
      <p:sp>
        <p:nvSpPr>
          <p:cNvPr id="17" name="Text 14"/>
          <p:cNvSpPr txBox="1"/>
          <p:nvPr/>
        </p:nvSpPr>
        <p:spPr>
          <a:xfrm>
            <a:off x="2377440" y="3108960"/>
            <a:ext cx="1874520" cy="914400"/>
          </a:xfrm>
          <a:prstGeom prst="roundRect">
            <a:avLst>
              <a:gd name="adj" fmla="val 8000"/>
            </a:avLst>
          </a:prstGeom>
          <a:solidFill>
            <a:schemeClr val="bg2"/>
          </a:solidFill>
          <a:ln w="12700">
            <a:solidFill>
              <a:schemeClr val="accent3"/>
            </a:solidFill>
          </a:ln>
        </p:spPr>
        <p:txBody>
          <a:bodyPr wrap="square" lIns="762" tIns="762" rIns="762" bIns="762" rtlCol="0" anchor="ctr"/>
          <a:lstStyle/>
          <a:p>
            <a:pPr algn="ctr" indent="0" marL="0">
              <a:buNone/>
            </a:pPr>
            <a:r>
              <a:rPr lang="en-US" sz="1200" dirty="0">
                <a:solidFill>
                  <a:schemeClr val="tx1"/>
                </a:solidFill>
              </a:rPr>
              <a:t>No: skip backend, try the next</a:t>
            </a:r>
            <a:endParaRPr lang="en-US" sz="1200" dirty="0"/>
          </a:p>
        </p:txBody>
      </p:sp>
      <p:sp>
        <p:nvSpPr>
          <p:cNvPr id="18" name="Shape 15"/>
          <p:cNvSpPr/>
          <p:nvPr/>
        </p:nvSpPr>
        <p:spPr>
          <a:xfrm>
            <a:off x="5166360" y="2788920"/>
            <a:ext cx="0" cy="457200"/>
          </a:xfrm>
          <a:prstGeom prst="line">
            <a:avLst/>
          </a:prstGeom>
          <a:noFill/>
          <a:ln w="22225">
            <a:solidFill>
              <a:schemeClr val="accent3"/>
            </a:solidFill>
            <a:prstDash val="solid"/>
            <a:tailEnd type="triangle"/>
          </a:ln>
        </p:spPr>
      </p:sp>
      <p:sp>
        <p:nvSpPr>
          <p:cNvPr id="19" name="Text 16"/>
          <p:cNvSpPr txBox="1"/>
          <p:nvPr/>
        </p:nvSpPr>
        <p:spPr>
          <a:xfrm>
            <a:off x="4297680" y="3108960"/>
            <a:ext cx="1874520" cy="914400"/>
          </a:xfrm>
          <a:prstGeom prst="roundRect">
            <a:avLst>
              <a:gd name="adj" fmla="val 8000"/>
            </a:avLst>
          </a:prstGeom>
          <a:solidFill>
            <a:schemeClr val="bg2"/>
          </a:solidFill>
          <a:ln w="12700">
            <a:solidFill>
              <a:schemeClr val="accent3"/>
            </a:solidFill>
          </a:ln>
        </p:spPr>
        <p:txBody>
          <a:bodyPr wrap="square" lIns="762" tIns="762" rIns="762" bIns="762" rtlCol="0" anchor="ctr"/>
          <a:lstStyle/>
          <a:p>
            <a:pPr algn="ctr" indent="0" marL="0">
              <a:buNone/>
            </a:pPr>
            <a:r>
              <a:rPr lang="en-US" sz="1200" dirty="0">
                <a:solidFill>
                  <a:schemeClr val="tx1"/>
                </a:solidFill>
              </a:rPr>
              <a:t>CUDA OOM: octree x0.75, chunks /2 (up to 3 tries)</a:t>
            </a:r>
            <a:endParaRPr lang="en-US" sz="1200" dirty="0"/>
          </a:p>
        </p:txBody>
      </p:sp>
      <p:sp>
        <p:nvSpPr>
          <p:cNvPr id="20" name="Shape 17"/>
          <p:cNvSpPr/>
          <p:nvPr/>
        </p:nvSpPr>
        <p:spPr>
          <a:xfrm>
            <a:off x="8961120" y="2788920"/>
            <a:ext cx="0" cy="457200"/>
          </a:xfrm>
          <a:prstGeom prst="line">
            <a:avLst/>
          </a:prstGeom>
          <a:noFill/>
          <a:ln w="22225">
            <a:solidFill>
              <a:schemeClr val="accent3"/>
            </a:solidFill>
            <a:prstDash val="solid"/>
            <a:tailEnd type="triangle"/>
          </a:ln>
        </p:spPr>
      </p:sp>
      <p:sp>
        <p:nvSpPr>
          <p:cNvPr id="21" name="Text 18"/>
          <p:cNvSpPr txBox="1"/>
          <p:nvPr/>
        </p:nvSpPr>
        <p:spPr>
          <a:xfrm>
            <a:off x="8092440" y="3108960"/>
            <a:ext cx="1874520" cy="914400"/>
          </a:xfrm>
          <a:prstGeom prst="roundRect">
            <a:avLst>
              <a:gd name="adj" fmla="val 8000"/>
            </a:avLst>
          </a:prstGeom>
          <a:solidFill>
            <a:schemeClr val="bg2"/>
          </a:solidFill>
          <a:ln w="12700">
            <a:solidFill>
              <a:schemeClr val="accent3"/>
            </a:solidFill>
          </a:ln>
        </p:spPr>
        <p:txBody>
          <a:bodyPr wrap="square" lIns="762" tIns="762" rIns="762" bIns="762" rtlCol="0" anchor="ctr"/>
          <a:lstStyle/>
          <a:p>
            <a:pPr algn="ctr" indent="0" marL="0">
              <a:buNone/>
            </a:pPr>
            <a:r>
              <a:rPr lang="en-US" sz="1200" dirty="0">
                <a:solidFill>
                  <a:schemeClr val="tx1"/>
                </a:solidFill>
              </a:rPr>
              <a:t>No: next backend, if time &lt;= 900 s (soft)</a:t>
            </a:r>
            <a:endParaRPr lang="en-US" sz="1200" dirty="0"/>
          </a:p>
        </p:txBody>
      </p:sp>
      <p:sp>
        <p:nvSpPr>
          <p:cNvPr id="22" name="Text 19"/>
          <p:cNvSpPr txBox="1"/>
          <p:nvPr/>
        </p:nvSpPr>
        <p:spPr>
          <a:xfrm>
            <a:off x="548640" y="4389120"/>
            <a:ext cx="3566160" cy="640080"/>
          </a:xfrm>
          <a:prstGeom prst="roundRect">
            <a:avLst>
              <a:gd name="adj" fmla="val 11429"/>
            </a:avLst>
          </a:prstGeom>
          <a:solidFill>
            <a:schemeClr val="accent5"/>
          </a:solidFill>
          <a:ln/>
        </p:spPr>
        <p:txBody>
          <a:bodyPr wrap="square" lIns="762" tIns="762" rIns="762" bIns="762" rtlCol="0" anchor="ctr"/>
          <a:lstStyle/>
          <a:p>
            <a:pPr algn="ctr" indent="0" marL="0">
              <a:buNone/>
            </a:pPr>
            <a:r>
              <a:rPr lang="en-US" sz="1200" dirty="0">
                <a:solidFill>
                  <a:schemeClr val="bg1"/>
                </a:solidFill>
              </a:rPr>
              <a:t>No candidate from any backend: RuntimeError</a:t>
            </a:r>
            <a:endParaRPr lang="en-US" sz="1200" dirty="0"/>
          </a:p>
        </p:txBody>
      </p:sp>
      <p:sp>
        <p:nvSpPr>
          <p:cNvPr id="23" name="Text 20"/>
          <p:cNvSpPr txBox="1"/>
          <p:nvPr/>
        </p:nvSpPr>
        <p:spPr>
          <a:xfrm>
            <a:off x="4297680" y="4389120"/>
            <a:ext cx="3840480" cy="640080"/>
          </a:xfrm>
          <a:prstGeom prst="roundRect">
            <a:avLst>
              <a:gd name="adj" fmla="val 11429"/>
            </a:avLst>
          </a:prstGeom>
          <a:solidFill>
            <a:schemeClr val="bg2"/>
          </a:solidFill>
          <a:ln/>
        </p:spPr>
        <p:txBody>
          <a:bodyPr wrap="square" lIns="762" tIns="762" rIns="762" bIns="762" rtlCol="0" anchor="ctr"/>
          <a:lstStyle/>
          <a:p>
            <a:pPr algn="ctr" indent="0" marL="0">
              <a:buNone/>
            </a:pPr>
            <a:r>
              <a:rPr lang="en-US" sz="1200" dirty="0">
                <a:solidFill>
                  <a:schemeClr val="tx1"/>
                </a:solidFill>
              </a:rPr>
              <a:t>Single-view: 3 seeds per Hunyuan backend; multi-view: 2; TripoSR: 1</a:t>
            </a:r>
            <a:endParaRPr lang="en-US" sz="1200" dirty="0"/>
          </a:p>
        </p:txBody>
      </p:sp>
      <p:sp>
        <p:nvSpPr>
          <p:cNvPr id="24" name="Text 21"/>
          <p:cNvSpPr txBox="1"/>
          <p:nvPr/>
        </p:nvSpPr>
        <p:spPr>
          <a:xfrm>
            <a:off x="8321040" y="4389120"/>
            <a:ext cx="3291840" cy="640080"/>
          </a:xfrm>
          <a:prstGeom prst="roundRect">
            <a:avLst>
              <a:gd name="adj" fmla="val 11429"/>
            </a:avLst>
          </a:prstGeom>
          <a:solidFill>
            <a:schemeClr val="bg2"/>
          </a:solidFill>
          <a:ln/>
        </p:spPr>
        <p:txBody>
          <a:bodyPr wrap="square" lIns="762" tIns="762" rIns="762" bIns="762" rtlCol="0" anchor="ctr"/>
          <a:lstStyle/>
          <a:p>
            <a:pPr algn="ctr" indent="0" marL="0">
              <a:buNone/>
            </a:pPr>
            <a:r>
              <a:rPr lang="en-US" sz="1200" dirty="0">
                <a:solidFill>
                  <a:schemeClr val="tx1"/>
                </a:solidFill>
              </a:rPr>
              <a:t>Below threshold: best candidate kept, warning added to report</a:t>
            </a:r>
            <a:endParaRPr lang="en-US" sz="1200" dirty="0"/>
          </a:p>
        </p:txBody>
      </p:sp>
      <p:sp>
        <p:nvSpPr>
          <p:cNvPr id="25" name="Text 22"/>
          <p:cNvSpPr txBox="1"/>
          <p:nvPr/>
        </p:nvSpPr>
        <p:spPr>
          <a:xfrm>
            <a:off x="548640" y="5349240"/>
            <a:ext cx="11064240" cy="731520"/>
          </a:xfrm>
          <a:prstGeom prst="rect">
            <a:avLst/>
          </a:prstGeom>
          <a:noFill/>
          <a:ln/>
        </p:spPr>
        <p:txBody>
          <a:bodyPr wrap="square" lIns="0" tIns="0" rIns="0" bIns="0" rtlCol="0" anchor="t"/>
          <a:lstStyle/>
          <a:p>
            <a:pPr indent="0" marL="0">
              <a:buNone/>
            </a:pPr>
            <a:r>
              <a:rPr lang="en-US" sz="1400" i="1" dirty="0">
                <a:solidFill>
                  <a:schemeClr val="tx2"/>
                </a:solidFill>
              </a:rPr>
              <a:t>Fallback improves resilience in principle; it does not guarantee a result when every backend fails. The time budget is only checked between backends.</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2354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Selecting the 3D Generation Backend</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3"/>
          </a:solidFill>
          <a:ln/>
        </p:spPr>
        <p:txBody>
          <a:bodyPr wrap="square" lIns="0" tIns="0" rIns="0" bIns="0" rtlCol="0" anchor="ctr"/>
          <a:lstStyle/>
          <a:p>
            <a:pPr algn="ctr" indent="0" marL="0">
              <a:buNone/>
            </a:pPr>
            <a:r>
              <a:rPr lang="en-US" sz="1000" b="1" dirty="0">
                <a:solidFill>
                  <a:schemeClr val="bg1"/>
                </a:solidFill>
              </a:rPr>
              <a:t>UNVERIFIED</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gridCol w="4389120"/>
                <a:gridCol w="4297680"/>
              </a:tblGrid>
              <a:tr h="411480">
                <a:tc>
                  <a:txBody>
                    <a:bodyPr/>
                    <a:lstStyle/>
                    <a:p>
                      <a:pPr indent="0" marL="0">
                        <a:buNone/>
                      </a:pPr>
                      <a:r>
                        <a:rPr lang="en-US" sz="1200" b="1" dirty="0">
                          <a:solidFill>
                            <a:schemeClr val="bg1"/>
                          </a:solidFill>
                        </a:rPr>
                        <a:t>Backend</a:t>
                      </a:r>
                      <a:endParaRPr lang="en-US" sz="12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Intended role in this notebook</a:t>
                      </a:r>
                      <a:endParaRPr lang="en-US" sz="12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Important qualification</a:t>
                      </a:r>
                      <a:endParaRPr lang="en-US" sz="12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r>
              <a:tr h="731520">
                <a:tc>
                  <a:txBody>
                    <a:bodyPr/>
                    <a:lstStyle/>
                    <a:p>
                      <a:pPr indent="0" marL="0">
                        <a:buNone/>
                      </a:pPr>
                      <a:r>
                        <a:rPr lang="en-US" sz="1300" dirty="0">
                          <a:solidFill>
                            <a:schemeClr val="tx1"/>
                          </a:solidFill>
                        </a:rPr>
                        <a:t>Hunyuan3D-2mini</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300" dirty="0">
                          <a:solidFill>
                            <a:schemeClr val="tx1"/>
                          </a:solidFill>
                        </a:rPr>
                        <a:t>Primary single-image route; second choice in multi-view runs (front view)</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300" dirty="0">
                          <a:solidFill>
                            <a:schemeClr val="tx1"/>
                          </a:solidFill>
                        </a:rPr>
                        <a:t>Checkpoint loading and generation require runtime verification</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731520">
                <a:tc>
                  <a:txBody>
                    <a:bodyPr/>
                    <a:lstStyle/>
                    <a:p>
                      <a:pPr indent="0" marL="0">
                        <a:buNone/>
                      </a:pPr>
                      <a:r>
                        <a:rPr lang="en-US" sz="1300" dirty="0">
                          <a:solidFill>
                            <a:schemeClr val="tx1"/>
                          </a:solidFill>
                        </a:rPr>
                        <a:t>Hunyuan3D-2mv</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300" dirty="0">
                          <a:solidFill>
                            <a:schemeClr val="tx1"/>
                          </a:solidFill>
                        </a:rPr>
                        <a:t>Multi-view route (2-4 views, tried first)</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300" dirty="0">
                          <a:solidFill>
                            <a:schemeClr val="tx1"/>
                          </a:solidFill>
                        </a:rPr>
                        <a:t>Needs successful install and compatible checkpoints</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731520">
                <a:tc>
                  <a:txBody>
                    <a:bodyPr/>
                    <a:lstStyle/>
                    <a:p>
                      <a:pPr indent="0" marL="0">
                        <a:buNone/>
                      </a:pPr>
                      <a:r>
                        <a:rPr lang="en-US" sz="1300" dirty="0">
                          <a:solidFill>
                            <a:schemeClr val="tx1"/>
                          </a:solidFill>
                        </a:rPr>
                        <a:t>TripoSR</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300" dirty="0">
                          <a:solidFill>
                            <a:schemeClr val="tx1"/>
                          </a:solidFill>
                        </a:rPr>
                        <a:t>Potential last fallback, front view only</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300" dirty="0">
                          <a:solidFill>
                            <a:schemeClr val="tx1"/>
                          </a:solidFill>
                        </a:rPr>
                        <a:t>Needs its dependencies, including a CUDA build of torchmcubes; auto-disabled if setup fails</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bl>
          </a:graphicData>
        </a:graphic>
      </p:graphicFrame>
      <p:sp>
        <p:nvSpPr>
          <p:cNvPr id="6" name="Text 2"/>
          <p:cNvSpPr txBox="1"/>
          <p:nvPr/>
        </p:nvSpPr>
        <p:spPr>
          <a:xfrm>
            <a:off x="548640" y="4297680"/>
            <a:ext cx="5394960" cy="640080"/>
          </a:xfrm>
          <a:prstGeom prst="roundRect">
            <a:avLst>
              <a:gd name="adj" fmla="val 11429"/>
            </a:avLst>
          </a:prstGeom>
          <a:solidFill>
            <a:schemeClr val="accent1"/>
          </a:solidFill>
          <a:ln/>
        </p:spPr>
        <p:txBody>
          <a:bodyPr wrap="square" lIns="762" tIns="762" rIns="762" bIns="762" rtlCol="0" anchor="ctr"/>
          <a:lstStyle/>
          <a:p>
            <a:pPr algn="ctr" indent="0" marL="0">
              <a:buNone/>
            </a:pPr>
            <a:r>
              <a:rPr lang="en-US" sz="1500" dirty="0">
                <a:solidFill>
                  <a:schemeClr val="bg1"/>
                </a:solidFill>
              </a:rPr>
              <a:t>1 view:  Hunyuan3D-2mini  &gt;  TripoSR</a:t>
            </a:r>
            <a:endParaRPr lang="en-US" sz="1500" dirty="0"/>
          </a:p>
        </p:txBody>
      </p:sp>
      <p:sp>
        <p:nvSpPr>
          <p:cNvPr id="7" name="Text 3"/>
          <p:cNvSpPr txBox="1"/>
          <p:nvPr/>
        </p:nvSpPr>
        <p:spPr>
          <a:xfrm>
            <a:off x="6217920" y="4297680"/>
            <a:ext cx="5394960" cy="640080"/>
          </a:xfrm>
          <a:prstGeom prst="roundRect">
            <a:avLst>
              <a:gd name="adj" fmla="val 11429"/>
            </a:avLst>
          </a:prstGeom>
          <a:solidFill>
            <a:schemeClr val="accent1"/>
          </a:solidFill>
          <a:ln/>
        </p:spPr>
        <p:txBody>
          <a:bodyPr wrap="square" lIns="762" tIns="762" rIns="762" bIns="762" rtlCol="0" anchor="ctr"/>
          <a:lstStyle/>
          <a:p>
            <a:pPr algn="ctr" indent="0" marL="0">
              <a:buNone/>
            </a:pPr>
            <a:r>
              <a:rPr lang="en-US" sz="1500" dirty="0">
                <a:solidFill>
                  <a:schemeClr val="bg1"/>
                </a:solidFill>
              </a:rPr>
              <a:t>2-4 views:  Hunyuan3D-2mv  &gt;  mini  &gt;  TripoSR</a:t>
            </a:r>
            <a:endParaRPr lang="en-US" sz="1500" dirty="0"/>
          </a:p>
        </p:txBody>
      </p:sp>
      <p:sp>
        <p:nvSpPr>
          <p:cNvPr id="8" name="Text 4"/>
          <p:cNvSpPr txBox="1"/>
          <p:nvPr/>
        </p:nvSpPr>
        <p:spPr>
          <a:xfrm>
            <a:off x="548640" y="5212080"/>
            <a:ext cx="11064240" cy="731520"/>
          </a:xfrm>
          <a:prstGeom prst="rect">
            <a:avLst/>
          </a:prstGeom>
          <a:noFill/>
          <a:ln/>
        </p:spPr>
        <p:txBody>
          <a:bodyPr wrap="square" lIns="0" tIns="0" rIns="0" bIns="0" rtlCol="0" anchor="t"/>
          <a:lstStyle/>
          <a:p>
            <a:pPr indent="0" marL="0">
              <a:buNone/>
            </a:pPr>
            <a:r>
              <a:rPr lang="en-US" sz="1400" i="1" dirty="0">
                <a:solidFill>
                  <a:schemeClr val="tx2"/>
                </a:solidFill>
              </a:rPr>
              <a:t>Each step exists only if that backend imported and loaded. Qualitative description, not a benchmark ranking.</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2354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Pretrained Model Inference Pipeline</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3"/>
          </a:solidFill>
          <a:ln/>
        </p:spPr>
        <p:txBody>
          <a:bodyPr wrap="square" lIns="0" tIns="0" rIns="0" bIns="0" rtlCol="0" anchor="ctr"/>
          <a:lstStyle/>
          <a:p>
            <a:pPr algn="ctr" indent="0" marL="0">
              <a:buNone/>
            </a:pPr>
            <a:r>
              <a:rPr lang="en-US" sz="1000" b="1" dirty="0">
                <a:solidFill>
                  <a:schemeClr val="bg1"/>
                </a:solidFill>
              </a:rPr>
              <a:t>UNVERIFIED</a:t>
            </a:r>
            <a:endParaRPr lang="en-US" sz="1000" dirty="0"/>
          </a:p>
        </p:txBody>
      </p:sp>
      <p:sp>
        <p:nvSpPr>
          <p:cNvPr id="5" name="Text 2"/>
          <p:cNvSpPr txBox="1"/>
          <p:nvPr/>
        </p:nvSpPr>
        <p:spPr>
          <a:xfrm>
            <a:off x="548640" y="1463040"/>
            <a:ext cx="1920240" cy="1005840"/>
          </a:xfrm>
          <a:prstGeom prst="roundRect">
            <a:avLst>
              <a:gd name="adj" fmla="val 7273"/>
            </a:avLst>
          </a:prstGeom>
          <a:solidFill>
            <a:schemeClr val="accent1"/>
          </a:solidFill>
          <a:ln/>
        </p:spPr>
        <p:txBody>
          <a:bodyPr wrap="square" lIns="762" tIns="762" rIns="762" bIns="762" rtlCol="0" anchor="ctr"/>
          <a:lstStyle/>
          <a:p>
            <a:pPr algn="ctr" indent="0" marL="0">
              <a:buNone/>
            </a:pPr>
            <a:r>
              <a:rPr lang="en-US" sz="1300" dirty="0">
                <a:solidFill>
                  <a:schemeClr val="bg1"/>
                </a:solidFill>
              </a:rPr>
              <a:t>Pretrained weights (Hugging Face)</a:t>
            </a:r>
            <a:endParaRPr lang="en-US" sz="1300" dirty="0"/>
          </a:p>
        </p:txBody>
      </p:sp>
      <p:sp>
        <p:nvSpPr>
          <p:cNvPr id="6" name="Shape 3"/>
          <p:cNvSpPr/>
          <p:nvPr/>
        </p:nvSpPr>
        <p:spPr>
          <a:xfrm>
            <a:off x="2487168" y="1965960"/>
            <a:ext cx="329184" cy="0"/>
          </a:xfrm>
          <a:prstGeom prst="line">
            <a:avLst/>
          </a:prstGeom>
          <a:noFill/>
          <a:ln w="22225">
            <a:solidFill>
              <a:schemeClr val="tx2"/>
            </a:solidFill>
            <a:prstDash val="solid"/>
            <a:tailEnd type="triangle"/>
          </a:ln>
        </p:spPr>
      </p:sp>
      <p:sp>
        <p:nvSpPr>
          <p:cNvPr id="7" name="Text 4"/>
          <p:cNvSpPr txBox="1"/>
          <p:nvPr/>
        </p:nvSpPr>
        <p:spPr>
          <a:xfrm>
            <a:off x="2834640" y="1463040"/>
            <a:ext cx="1920240" cy="1005840"/>
          </a:xfrm>
          <a:prstGeom prst="roundRect">
            <a:avLst>
              <a:gd name="adj" fmla="val 7273"/>
            </a:avLst>
          </a:prstGeom>
          <a:solidFill>
            <a:schemeClr val="accent1"/>
          </a:solidFill>
          <a:ln/>
        </p:spPr>
        <p:txBody>
          <a:bodyPr wrap="square" lIns="762" tIns="762" rIns="762" bIns="762" rtlCol="0" anchor="ctr"/>
          <a:lstStyle/>
          <a:p>
            <a:pPr algn="ctr" indent="0" marL="0">
              <a:buNone/>
            </a:pPr>
            <a:r>
              <a:rPr lang="en-US" sz="1300" dirty="0">
                <a:solidFill>
                  <a:schemeClr val="bg1"/>
                </a:solidFill>
              </a:rPr>
              <a:t>Image conditioning</a:t>
            </a:r>
            <a:endParaRPr lang="en-US" sz="1300" dirty="0"/>
          </a:p>
        </p:txBody>
      </p:sp>
      <p:sp>
        <p:nvSpPr>
          <p:cNvPr id="8" name="Shape 5"/>
          <p:cNvSpPr/>
          <p:nvPr/>
        </p:nvSpPr>
        <p:spPr>
          <a:xfrm>
            <a:off x="4773168" y="1965960"/>
            <a:ext cx="329184" cy="0"/>
          </a:xfrm>
          <a:prstGeom prst="line">
            <a:avLst/>
          </a:prstGeom>
          <a:noFill/>
          <a:ln w="22225">
            <a:solidFill>
              <a:schemeClr val="tx2"/>
            </a:solidFill>
            <a:prstDash val="solid"/>
            <a:tailEnd type="triangle"/>
          </a:ln>
        </p:spPr>
      </p:sp>
      <p:sp>
        <p:nvSpPr>
          <p:cNvPr id="9" name="Text 6"/>
          <p:cNvSpPr txBox="1"/>
          <p:nvPr/>
        </p:nvSpPr>
        <p:spPr>
          <a:xfrm>
            <a:off x="5120640" y="1463040"/>
            <a:ext cx="1920240" cy="1005840"/>
          </a:xfrm>
          <a:prstGeom prst="roundRect">
            <a:avLst>
              <a:gd name="adj" fmla="val 7273"/>
            </a:avLst>
          </a:prstGeom>
          <a:solidFill>
            <a:schemeClr val="accent1"/>
          </a:solidFill>
          <a:ln/>
        </p:spPr>
        <p:txBody>
          <a:bodyPr wrap="square" lIns="762" tIns="762" rIns="762" bIns="762" rtlCol="0" anchor="ctr"/>
          <a:lstStyle/>
          <a:p>
            <a:pPr algn="ctr" indent="0" marL="0">
              <a:buNone/>
            </a:pPr>
            <a:r>
              <a:rPr lang="en-US" sz="1300" dirty="0">
                <a:solidFill>
                  <a:schemeClr val="bg1"/>
                </a:solidFill>
              </a:rPr>
              <a:t>3D shape generation (5 steps turbo / ~30)</a:t>
            </a:r>
            <a:endParaRPr lang="en-US" sz="1300" dirty="0"/>
          </a:p>
        </p:txBody>
      </p:sp>
      <p:sp>
        <p:nvSpPr>
          <p:cNvPr id="10" name="Shape 7"/>
          <p:cNvSpPr/>
          <p:nvPr/>
        </p:nvSpPr>
        <p:spPr>
          <a:xfrm>
            <a:off x="7059168" y="1965960"/>
            <a:ext cx="329184" cy="0"/>
          </a:xfrm>
          <a:prstGeom prst="line">
            <a:avLst/>
          </a:prstGeom>
          <a:noFill/>
          <a:ln w="22225">
            <a:solidFill>
              <a:schemeClr val="tx2"/>
            </a:solidFill>
            <a:prstDash val="solid"/>
            <a:tailEnd type="triangle"/>
          </a:ln>
        </p:spPr>
      </p:sp>
      <p:sp>
        <p:nvSpPr>
          <p:cNvPr id="11" name="Text 8"/>
          <p:cNvSpPr txBox="1"/>
          <p:nvPr/>
        </p:nvSpPr>
        <p:spPr>
          <a:xfrm>
            <a:off x="7406640" y="1463040"/>
            <a:ext cx="1920240" cy="1005840"/>
          </a:xfrm>
          <a:prstGeom prst="roundRect">
            <a:avLst>
              <a:gd name="adj" fmla="val 7273"/>
            </a:avLst>
          </a:prstGeom>
          <a:solidFill>
            <a:schemeClr val="accent1"/>
          </a:solidFill>
          <a:ln/>
        </p:spPr>
        <p:txBody>
          <a:bodyPr wrap="square" lIns="762" tIns="762" rIns="762" bIns="762" rtlCol="0" anchor="ctr"/>
          <a:lstStyle/>
          <a:p>
            <a:pPr algn="ctr" indent="0" marL="0">
              <a:buNone/>
            </a:pPr>
            <a:r>
              <a:rPr lang="en-US" sz="1300" dirty="0">
                <a:solidFill>
                  <a:schemeClr val="bg1"/>
                </a:solidFill>
              </a:rPr>
              <a:t>Mesh extraction (octree 320)</a:t>
            </a:r>
            <a:endParaRPr lang="en-US" sz="1300" dirty="0"/>
          </a:p>
        </p:txBody>
      </p:sp>
      <p:sp>
        <p:nvSpPr>
          <p:cNvPr id="12" name="Shape 9"/>
          <p:cNvSpPr/>
          <p:nvPr/>
        </p:nvSpPr>
        <p:spPr>
          <a:xfrm>
            <a:off x="9345168" y="1965960"/>
            <a:ext cx="329184" cy="0"/>
          </a:xfrm>
          <a:prstGeom prst="line">
            <a:avLst/>
          </a:prstGeom>
          <a:noFill/>
          <a:ln w="22225">
            <a:solidFill>
              <a:schemeClr val="tx2"/>
            </a:solidFill>
            <a:prstDash val="solid"/>
            <a:tailEnd type="triangle"/>
          </a:ln>
        </p:spPr>
      </p:sp>
      <p:sp>
        <p:nvSpPr>
          <p:cNvPr id="13" name="Text 10"/>
          <p:cNvSpPr txBox="1"/>
          <p:nvPr/>
        </p:nvSpPr>
        <p:spPr>
          <a:xfrm>
            <a:off x="9692640" y="1463040"/>
            <a:ext cx="1920240" cy="1005840"/>
          </a:xfrm>
          <a:prstGeom prst="roundRect">
            <a:avLst>
              <a:gd name="adj" fmla="val 7273"/>
            </a:avLst>
          </a:prstGeom>
          <a:solidFill>
            <a:schemeClr val="accent2"/>
          </a:solidFill>
          <a:ln/>
        </p:spPr>
        <p:txBody>
          <a:bodyPr wrap="square" lIns="762" tIns="762" rIns="762" bIns="762" rtlCol="0" anchor="ctr"/>
          <a:lstStyle/>
          <a:p>
            <a:pPr algn="ctr" indent="0" marL="0">
              <a:buNone/>
            </a:pPr>
            <a:r>
              <a:rPr lang="en-US" sz="1300" dirty="0">
                <a:solidFill>
                  <a:schemeClr val="bg1"/>
                </a:solidFill>
              </a:rPr>
              <a:t>Candidate mesh (trimesh)</a:t>
            </a:r>
            <a:endParaRPr lang="en-US" sz="1300" dirty="0"/>
          </a:p>
        </p:txBody>
      </p:sp>
      <p:sp>
        <p:nvSpPr>
          <p:cNvPr id="14" name="Text 11"/>
          <p:cNvSpPr txBox="1"/>
          <p:nvPr/>
        </p:nvSpPr>
        <p:spPr>
          <a:xfrm>
            <a:off x="548640" y="3017520"/>
            <a:ext cx="5394960" cy="411480"/>
          </a:xfrm>
          <a:prstGeom prst="roundRect">
            <a:avLst>
              <a:gd name="adj" fmla="val 17778"/>
            </a:avLst>
          </a:prstGeom>
          <a:solidFill>
            <a:schemeClr val="accent6"/>
          </a:solidFill>
          <a:ln/>
        </p:spPr>
        <p:txBody>
          <a:bodyPr wrap="square" lIns="762" tIns="762" rIns="762" bIns="762" rtlCol="0" anchor="ctr"/>
          <a:lstStyle/>
          <a:p>
            <a:pPr algn="ctr" indent="0" marL="0">
              <a:buNone/>
            </a:pPr>
            <a:r>
              <a:rPr lang="en-US" sz="1400" b="1" dirty="0">
                <a:solidFill>
                  <a:schemeClr val="bg1"/>
                </a:solidFill>
              </a:rPr>
              <a:t>Runtime requirements</a:t>
            </a:r>
            <a:endParaRPr lang="en-US" sz="1400" dirty="0"/>
          </a:p>
        </p:txBody>
      </p:sp>
      <p:sp>
        <p:nvSpPr>
          <p:cNvPr id="15" name="Text 12"/>
          <p:cNvSpPr txBox="1"/>
          <p:nvPr/>
        </p:nvSpPr>
        <p:spPr>
          <a:xfrm>
            <a:off x="548640" y="3566160"/>
            <a:ext cx="539496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Google Colab with a GPU runtime (T4 targeted)</a:t>
            </a:r>
            <a:endParaRPr lang="en-US" sz="1400" dirty="0"/>
          </a:p>
          <a:p>
            <a:pPr marL="342900" indent="-342900">
              <a:spcAft>
                <a:spcPts val="600"/>
              </a:spcAft>
              <a:buSzPct val="100000"/>
              <a:buChar char="•"/>
            </a:pPr>
            <a:r>
              <a:rPr lang="en-US" sz="1400" dirty="0">
                <a:solidFill>
                  <a:schemeClr val="tx1"/>
                </a:solidFill>
              </a:rPr>
              <a:t>Model-weight downloads (~5 GB per notebook comment), optional Drive cache</a:t>
            </a:r>
            <a:endParaRPr lang="en-US" sz="1400" dirty="0"/>
          </a:p>
          <a:p>
            <a:pPr marL="342900" indent="-342900">
              <a:spcAft>
                <a:spcPts val="600"/>
              </a:spcAft>
              <a:buSzPct val="100000"/>
              <a:buChar char="•"/>
            </a:pPr>
            <a:r>
              <a:rPr lang="en-US" sz="1400" dirty="0">
                <a:solidFill>
                  <a:schemeClr val="tx1"/>
                </a:solidFill>
              </a:rPr>
              <a:t>Dependency install (~5-8 min first time)</a:t>
            </a:r>
            <a:endParaRPr lang="en-US" sz="1400" dirty="0"/>
          </a:p>
          <a:p>
            <a:pPr marL="342900" indent="-342900">
              <a:spcAft>
                <a:spcPts val="600"/>
              </a:spcAft>
              <a:buSzPct val="100000"/>
              <a:buChar char="•"/>
            </a:pPr>
            <a:r>
              <a:rPr lang="en-US" sz="1400" dirty="0">
                <a:solidFill>
                  <a:schemeClr val="tx1"/>
                </a:solidFill>
              </a:rPr>
              <a:t>One model on the GPU at a time (T4 ~15 GB)</a:t>
            </a:r>
            <a:endParaRPr lang="en-US" sz="1400" dirty="0"/>
          </a:p>
        </p:txBody>
      </p:sp>
      <p:sp>
        <p:nvSpPr>
          <p:cNvPr id="16" name="Text 13"/>
          <p:cNvSpPr txBox="1"/>
          <p:nvPr/>
        </p:nvSpPr>
        <p:spPr>
          <a:xfrm>
            <a:off x="6217920" y="3017520"/>
            <a:ext cx="5394960" cy="411480"/>
          </a:xfrm>
          <a:prstGeom prst="roundRect">
            <a:avLst>
              <a:gd name="adj" fmla="val 17778"/>
            </a:avLst>
          </a:prstGeom>
          <a:solidFill>
            <a:schemeClr val="accent6"/>
          </a:solidFill>
          <a:ln/>
        </p:spPr>
        <p:txBody>
          <a:bodyPr wrap="square" lIns="762" tIns="762" rIns="762" bIns="762" rtlCol="0" anchor="ctr"/>
          <a:lstStyle/>
          <a:p>
            <a:pPr algn="ctr" indent="0" marL="0">
              <a:buNone/>
            </a:pPr>
            <a:r>
              <a:rPr lang="en-US" sz="1400" b="1" dirty="0">
                <a:solidFill>
                  <a:schemeClr val="bg1"/>
                </a:solidFill>
              </a:rPr>
              <a:t>Scope</a:t>
            </a:r>
            <a:endParaRPr lang="en-US" sz="1400" dirty="0"/>
          </a:p>
        </p:txBody>
      </p:sp>
      <p:sp>
        <p:nvSpPr>
          <p:cNvPr id="17" name="Text 14"/>
          <p:cNvSpPr txBox="1"/>
          <p:nvPr/>
        </p:nvSpPr>
        <p:spPr>
          <a:xfrm>
            <a:off x="6217920" y="3566160"/>
            <a:ext cx="539496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Inference-only: no training, no fine-tuning</a:t>
            </a:r>
            <a:endParaRPr lang="en-US" sz="1400" dirty="0"/>
          </a:p>
          <a:p>
            <a:pPr marL="342900" indent="-342900">
              <a:spcAft>
                <a:spcPts val="600"/>
              </a:spcAft>
              <a:buSzPct val="100000"/>
              <a:buChar char="•"/>
            </a:pPr>
            <a:r>
              <a:rPr lang="en-US" sz="1400" dirty="0">
                <a:solidFill>
                  <a:schemeClr val="tx1"/>
                </a:solidFill>
              </a:rPr>
              <a:t>Hunyuan3D shape model only; no texture model is used (colour comes from projection)</a:t>
            </a:r>
            <a:endParaRPr lang="en-US" sz="1400" dirty="0"/>
          </a:p>
          <a:p>
            <a:pPr marL="342900" indent="-342900">
              <a:spcAft>
                <a:spcPts val="600"/>
              </a:spcAft>
              <a:buSzPct val="100000"/>
              <a:buChar char="•"/>
            </a:pPr>
            <a:r>
              <a:rPr lang="en-US" sz="1400" dirty="0">
                <a:solidFill>
                  <a:schemeClr val="tx1"/>
                </a:solidFill>
              </a:rPr>
              <a:t>Full GPU workflow timing and memory not yet measured</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2354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Candidate Generation and Selection</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4"/>
          </a:solidFill>
          <a:ln/>
        </p:spPr>
        <p:txBody>
          <a:bodyPr wrap="square" lIns="0" tIns="0" rIns="0" bIns="0" rtlCol="0" anchor="ctr"/>
          <a:lstStyle/>
          <a:p>
            <a:pPr algn="ctr" indent="0" marL="0">
              <a:buNone/>
            </a:pPr>
            <a:r>
              <a:rPr lang="en-US" sz="1000" b="1" dirty="0">
                <a:solidFill>
                  <a:schemeClr val="bg1"/>
                </a:solidFill>
              </a:rPr>
              <a:t>IMPLEMENTED</a:t>
            </a:r>
            <a:endParaRPr lang="en-US" sz="1000" dirty="0"/>
          </a:p>
        </p:txBody>
      </p:sp>
      <p:sp>
        <p:nvSpPr>
          <p:cNvPr id="5" name="Text 2"/>
          <p:cNvSpPr txBox="1"/>
          <p:nvPr/>
        </p:nvSpPr>
        <p:spPr>
          <a:xfrm>
            <a:off x="548640" y="2468880"/>
            <a:ext cx="1737360" cy="914400"/>
          </a:xfrm>
          <a:prstGeom prst="roundRect">
            <a:avLst>
              <a:gd name="adj" fmla="val 8000"/>
            </a:avLst>
          </a:prstGeom>
          <a:solidFill>
            <a:schemeClr val="accent6"/>
          </a:solidFill>
          <a:ln/>
        </p:spPr>
        <p:txBody>
          <a:bodyPr wrap="square" lIns="762" tIns="762" rIns="762" bIns="762" rtlCol="0" anchor="ctr"/>
          <a:lstStyle/>
          <a:p>
            <a:pPr algn="ctr" indent="0" marL="0">
              <a:buNone/>
            </a:pPr>
            <a:r>
              <a:rPr lang="en-US" sz="1300" dirty="0">
                <a:solidFill>
                  <a:schemeClr val="bg1"/>
                </a:solidFill>
              </a:rPr>
              <a:t>Input image(s)</a:t>
            </a:r>
            <a:endParaRPr lang="en-US" sz="1300" dirty="0"/>
          </a:p>
        </p:txBody>
      </p:sp>
      <p:sp>
        <p:nvSpPr>
          <p:cNvPr id="6" name="Text 3"/>
          <p:cNvSpPr txBox="1"/>
          <p:nvPr/>
        </p:nvSpPr>
        <p:spPr>
          <a:xfrm>
            <a:off x="2926080" y="1417320"/>
            <a:ext cx="2103120" cy="868680"/>
          </a:xfrm>
          <a:prstGeom prst="roundRect">
            <a:avLst>
              <a:gd name="adj" fmla="val 8421"/>
            </a:avLst>
          </a:prstGeom>
          <a:solidFill>
            <a:schemeClr val="accent1"/>
          </a:solidFill>
          <a:ln/>
        </p:spPr>
        <p:txBody>
          <a:bodyPr wrap="square" lIns="762" tIns="762" rIns="762" bIns="762" rtlCol="0" anchor="ctr"/>
          <a:lstStyle/>
          <a:p>
            <a:pPr algn="ctr" indent="0" marL="0">
              <a:buNone/>
            </a:pPr>
            <a:r>
              <a:rPr lang="en-US" sz="1300" dirty="0">
                <a:solidFill>
                  <a:schemeClr val="bg1"/>
                </a:solidFill>
              </a:rPr>
              <a:t>Candidate A (seed 0)</a:t>
            </a:r>
            <a:endParaRPr lang="en-US" sz="1300" dirty="0"/>
          </a:p>
        </p:txBody>
      </p:sp>
      <p:sp>
        <p:nvSpPr>
          <p:cNvPr id="7" name="Shape 4"/>
          <p:cNvSpPr/>
          <p:nvPr/>
        </p:nvSpPr>
        <p:spPr>
          <a:xfrm>
            <a:off x="5074920" y="1856232"/>
            <a:ext cx="365760" cy="0"/>
          </a:xfrm>
          <a:prstGeom prst="line">
            <a:avLst/>
          </a:prstGeom>
          <a:noFill/>
          <a:ln w="22225">
            <a:solidFill>
              <a:schemeClr val="tx2"/>
            </a:solidFill>
            <a:prstDash val="solid"/>
            <a:tailEnd type="triangle"/>
          </a:ln>
        </p:spPr>
      </p:sp>
      <p:sp>
        <p:nvSpPr>
          <p:cNvPr id="8" name="Text 5"/>
          <p:cNvSpPr txBox="1"/>
          <p:nvPr/>
        </p:nvSpPr>
        <p:spPr>
          <a:xfrm>
            <a:off x="2926080" y="2468880"/>
            <a:ext cx="2103120" cy="868680"/>
          </a:xfrm>
          <a:prstGeom prst="roundRect">
            <a:avLst>
              <a:gd name="adj" fmla="val 8421"/>
            </a:avLst>
          </a:prstGeom>
          <a:solidFill>
            <a:schemeClr val="accent1"/>
          </a:solidFill>
          <a:ln/>
        </p:spPr>
        <p:txBody>
          <a:bodyPr wrap="square" lIns="762" tIns="762" rIns="762" bIns="762" rtlCol="0" anchor="ctr"/>
          <a:lstStyle/>
          <a:p>
            <a:pPr algn="ctr" indent="0" marL="0">
              <a:buNone/>
            </a:pPr>
            <a:r>
              <a:rPr lang="en-US" sz="1300" dirty="0">
                <a:solidFill>
                  <a:schemeClr val="bg1"/>
                </a:solidFill>
              </a:rPr>
              <a:t>Candidate B (seed 1)</a:t>
            </a:r>
            <a:endParaRPr lang="en-US" sz="1300" dirty="0"/>
          </a:p>
        </p:txBody>
      </p:sp>
      <p:sp>
        <p:nvSpPr>
          <p:cNvPr id="9" name="Shape 6"/>
          <p:cNvSpPr/>
          <p:nvPr/>
        </p:nvSpPr>
        <p:spPr>
          <a:xfrm>
            <a:off x="5074920" y="2907792"/>
            <a:ext cx="365760" cy="0"/>
          </a:xfrm>
          <a:prstGeom prst="line">
            <a:avLst/>
          </a:prstGeom>
          <a:noFill/>
          <a:ln w="22225">
            <a:solidFill>
              <a:schemeClr val="tx2"/>
            </a:solidFill>
            <a:prstDash val="solid"/>
            <a:tailEnd type="triangle"/>
          </a:ln>
        </p:spPr>
      </p:sp>
      <p:sp>
        <p:nvSpPr>
          <p:cNvPr id="10" name="Text 7"/>
          <p:cNvSpPr txBox="1"/>
          <p:nvPr/>
        </p:nvSpPr>
        <p:spPr>
          <a:xfrm>
            <a:off x="2926080" y="3520440"/>
            <a:ext cx="2103120" cy="868680"/>
          </a:xfrm>
          <a:prstGeom prst="roundRect">
            <a:avLst>
              <a:gd name="adj" fmla="val 8421"/>
            </a:avLst>
          </a:prstGeom>
          <a:solidFill>
            <a:schemeClr val="accent1"/>
          </a:solidFill>
          <a:ln/>
        </p:spPr>
        <p:txBody>
          <a:bodyPr wrap="square" lIns="762" tIns="762" rIns="762" bIns="762" rtlCol="0" anchor="ctr"/>
          <a:lstStyle/>
          <a:p>
            <a:pPr algn="ctr" indent="0" marL="0">
              <a:buNone/>
            </a:pPr>
            <a:r>
              <a:rPr lang="en-US" sz="1300" dirty="0">
                <a:solidFill>
                  <a:schemeClr val="bg1"/>
                </a:solidFill>
              </a:rPr>
              <a:t>Candidate C (seed 2)</a:t>
            </a:r>
            <a:endParaRPr lang="en-US" sz="1300" dirty="0"/>
          </a:p>
        </p:txBody>
      </p:sp>
      <p:sp>
        <p:nvSpPr>
          <p:cNvPr id="11" name="Shape 8"/>
          <p:cNvSpPr/>
          <p:nvPr/>
        </p:nvSpPr>
        <p:spPr>
          <a:xfrm>
            <a:off x="5074920" y="3959352"/>
            <a:ext cx="365760" cy="0"/>
          </a:xfrm>
          <a:prstGeom prst="line">
            <a:avLst/>
          </a:prstGeom>
          <a:noFill/>
          <a:ln w="22225">
            <a:solidFill>
              <a:schemeClr val="tx2"/>
            </a:solidFill>
            <a:prstDash val="solid"/>
            <a:tailEnd type="triangle"/>
          </a:ln>
        </p:spPr>
      </p:sp>
      <p:sp>
        <p:nvSpPr>
          <p:cNvPr id="12" name="Shape 9"/>
          <p:cNvSpPr/>
          <p:nvPr/>
        </p:nvSpPr>
        <p:spPr>
          <a:xfrm>
            <a:off x="2331720" y="2926080"/>
            <a:ext cx="548640" cy="0"/>
          </a:xfrm>
          <a:prstGeom prst="line">
            <a:avLst/>
          </a:prstGeom>
          <a:noFill/>
          <a:ln w="22225">
            <a:solidFill>
              <a:schemeClr val="tx2"/>
            </a:solidFill>
            <a:prstDash val="solid"/>
            <a:tailEnd type="triangle"/>
          </a:ln>
        </p:spPr>
      </p:sp>
      <p:sp>
        <p:nvSpPr>
          <p:cNvPr id="13" name="Text 10"/>
          <p:cNvSpPr txBox="1"/>
          <p:nvPr/>
        </p:nvSpPr>
        <p:spPr>
          <a:xfrm>
            <a:off x="5486400" y="1417320"/>
            <a:ext cx="1828800" cy="2971800"/>
          </a:xfrm>
          <a:prstGeom prst="roundRect">
            <a:avLst>
              <a:gd name="adj" fmla="val 4000"/>
            </a:avLst>
          </a:prstGeom>
          <a:solidFill>
            <a:schemeClr val="accent2"/>
          </a:solidFill>
          <a:ln/>
        </p:spPr>
        <p:txBody>
          <a:bodyPr wrap="square" lIns="762" tIns="762" rIns="762" bIns="762" rtlCol="0" anchor="ctr"/>
          <a:lstStyle/>
          <a:p>
            <a:pPr algn="ctr" indent="0" marL="0">
              <a:buNone/>
            </a:pPr>
            <a:r>
              <a:rPr lang="en-US" sz="1300" dirty="0">
                <a:solidFill>
                  <a:schemeClr val="bg1"/>
                </a:solidFill>
              </a:rPr>
              <a:t>Silhouette IoU per candidate</a:t>
            </a:r>
            <a:endParaRPr lang="en-US" sz="1300" dirty="0"/>
          </a:p>
        </p:txBody>
      </p:sp>
      <p:sp>
        <p:nvSpPr>
          <p:cNvPr id="14" name="Shape 11"/>
          <p:cNvSpPr/>
          <p:nvPr/>
        </p:nvSpPr>
        <p:spPr>
          <a:xfrm>
            <a:off x="7360920" y="2926080"/>
            <a:ext cx="365760" cy="0"/>
          </a:xfrm>
          <a:prstGeom prst="line">
            <a:avLst/>
          </a:prstGeom>
          <a:noFill/>
          <a:ln w="22225">
            <a:solidFill>
              <a:schemeClr val="tx2"/>
            </a:solidFill>
            <a:prstDash val="solid"/>
            <a:tailEnd type="triangle"/>
          </a:ln>
        </p:spPr>
      </p:sp>
      <p:sp>
        <p:nvSpPr>
          <p:cNvPr id="15" name="Text 12"/>
          <p:cNvSpPr txBox="1"/>
          <p:nvPr/>
        </p:nvSpPr>
        <p:spPr>
          <a:xfrm>
            <a:off x="7772400" y="2468880"/>
            <a:ext cx="1737360" cy="914400"/>
          </a:xfrm>
          <a:prstGeom prst="roundRect">
            <a:avLst>
              <a:gd name="adj" fmla="val 8000"/>
            </a:avLst>
          </a:prstGeom>
          <a:solidFill>
            <a:schemeClr val="accent2"/>
          </a:solidFill>
          <a:ln/>
        </p:spPr>
        <p:txBody>
          <a:bodyPr wrap="square" lIns="762" tIns="762" rIns="762" bIns="762" rtlCol="0" anchor="ctr"/>
          <a:lstStyle/>
          <a:p>
            <a:pPr algn="ctr" indent="0" marL="0">
              <a:buNone/>
            </a:pPr>
            <a:r>
              <a:rPr lang="en-US" sz="1300" dirty="0">
                <a:solidFill>
                  <a:schemeClr val="bg1"/>
                </a:solidFill>
              </a:rPr>
              <a:t>Rank by mean IoU</a:t>
            </a:r>
            <a:endParaRPr lang="en-US" sz="1300" dirty="0"/>
          </a:p>
        </p:txBody>
      </p:sp>
      <p:sp>
        <p:nvSpPr>
          <p:cNvPr id="16" name="Shape 13"/>
          <p:cNvSpPr/>
          <p:nvPr/>
        </p:nvSpPr>
        <p:spPr>
          <a:xfrm>
            <a:off x="9555480" y="2926080"/>
            <a:ext cx="365760" cy="0"/>
          </a:xfrm>
          <a:prstGeom prst="line">
            <a:avLst/>
          </a:prstGeom>
          <a:noFill/>
          <a:ln w="22225">
            <a:solidFill>
              <a:schemeClr val="tx2"/>
            </a:solidFill>
            <a:prstDash val="solid"/>
            <a:tailEnd type="triangle"/>
          </a:ln>
        </p:spPr>
      </p:sp>
      <p:sp>
        <p:nvSpPr>
          <p:cNvPr id="17" name="Text 14"/>
          <p:cNvSpPr txBox="1"/>
          <p:nvPr/>
        </p:nvSpPr>
        <p:spPr>
          <a:xfrm>
            <a:off x="9966960" y="2468880"/>
            <a:ext cx="1645920" cy="914400"/>
          </a:xfrm>
          <a:prstGeom prst="roundRect">
            <a:avLst>
              <a:gd name="adj" fmla="val 8000"/>
            </a:avLst>
          </a:prstGeom>
          <a:solidFill>
            <a:schemeClr val="accent4"/>
          </a:solidFill>
          <a:ln/>
        </p:spPr>
        <p:txBody>
          <a:bodyPr wrap="square" lIns="762" tIns="762" rIns="762" bIns="762" rtlCol="0" anchor="ctr"/>
          <a:lstStyle/>
          <a:p>
            <a:pPr algn="ctr" indent="0" marL="0">
              <a:buNone/>
            </a:pPr>
            <a:r>
              <a:rPr lang="en-US" sz="1300" dirty="0">
                <a:solidFill>
                  <a:schemeClr val="bg1"/>
                </a:solidFill>
              </a:rPr>
              <a:t>Selected mesh</a:t>
            </a:r>
            <a:endParaRPr lang="en-US" sz="1300" dirty="0"/>
          </a:p>
        </p:txBody>
      </p:sp>
      <p:sp>
        <p:nvSpPr>
          <p:cNvPr id="18" name="Text 15"/>
          <p:cNvSpPr txBox="1"/>
          <p:nvPr/>
        </p:nvSpPr>
        <p:spPr>
          <a:xfrm>
            <a:off x="548640" y="4754880"/>
            <a:ext cx="5486400" cy="822960"/>
          </a:xfrm>
          <a:prstGeom prst="roundRect">
            <a:avLst>
              <a:gd name="adj" fmla="val 8889"/>
            </a:avLst>
          </a:prstGeom>
          <a:solidFill>
            <a:schemeClr val="bg2"/>
          </a:solidFill>
          <a:ln/>
        </p:spPr>
        <p:txBody>
          <a:bodyPr wrap="square" lIns="762" tIns="762" rIns="762" bIns="762" rtlCol="0" anchor="ctr"/>
          <a:lstStyle/>
          <a:p>
            <a:pPr algn="ctr" indent="0" marL="0">
              <a:buNone/>
            </a:pPr>
            <a:r>
              <a:rPr lang="en-US" sz="1300" dirty="0">
                <a:solidFill>
                  <a:schemeClr val="tx1"/>
                </a:solidFill>
              </a:rPr>
              <a:t>Config values: N_SEEDS_SINGLE = 3, N_SEEDS_MULTI = 2, TripoSR = 1. These are code settings, not empirically tuned.</a:t>
            </a:r>
            <a:endParaRPr lang="en-US" sz="1300" dirty="0"/>
          </a:p>
        </p:txBody>
      </p:sp>
      <p:sp>
        <p:nvSpPr>
          <p:cNvPr id="19" name="Text 16"/>
          <p:cNvSpPr txBox="1"/>
          <p:nvPr/>
        </p:nvSpPr>
        <p:spPr>
          <a:xfrm>
            <a:off x="6309360" y="4754880"/>
            <a:ext cx="5303520" cy="822960"/>
          </a:xfrm>
          <a:prstGeom prst="rect">
            <a:avLst/>
          </a:prstGeom>
          <a:noFill/>
          <a:ln/>
        </p:spPr>
        <p:txBody>
          <a:bodyPr wrap="square" lIns="0" tIns="0" rIns="0" bIns="0" rtlCol="0" anchor="t"/>
          <a:lstStyle/>
          <a:p>
            <a:pPr indent="0" marL="0">
              <a:buNone/>
            </a:pPr>
            <a:r>
              <a:rPr lang="en-US" sz="1400" i="1" dirty="0">
                <a:solidFill>
                  <a:schemeClr val="tx2"/>
                </a:solidFill>
              </a:rPr>
              <a:t>Ranking uses silhouette agreement only, so the top score is not necessarily the most accurate full 3D object.</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2354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Silhouette IoU: Evaluation Method</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4"/>
          </a:solidFill>
          <a:ln/>
        </p:spPr>
        <p:txBody>
          <a:bodyPr wrap="square" lIns="0" tIns="0" rIns="0" bIns="0" rtlCol="0" anchor="ctr"/>
          <a:lstStyle/>
          <a:p>
            <a:pPr algn="ctr" indent="0" marL="0">
              <a:buNone/>
            </a:pPr>
            <a:r>
              <a:rPr lang="en-US" sz="1000" b="1" dirty="0">
                <a:solidFill>
                  <a:schemeClr val="bg1"/>
                </a:solidFill>
              </a:rPr>
              <a:t>IMPLEMENTED</a:t>
            </a:r>
            <a:endParaRPr lang="en-US" sz="1000" dirty="0"/>
          </a:p>
        </p:txBody>
      </p:sp>
      <p:sp>
        <p:nvSpPr>
          <p:cNvPr id="5" name="Shape 2"/>
          <p:cNvSpPr/>
          <p:nvPr/>
        </p:nvSpPr>
        <p:spPr>
          <a:xfrm>
            <a:off x="731520" y="1645920"/>
            <a:ext cx="2194560" cy="2194560"/>
          </a:xfrm>
          <a:prstGeom prst="ellipse">
            <a:avLst/>
          </a:prstGeom>
          <a:solidFill>
            <a:schemeClr val="accent1">
              <a:alpha val="55000"/>
            </a:schemeClr>
          </a:solidFill>
          <a:ln w="19050">
            <a:solidFill>
              <a:schemeClr val="accent1"/>
            </a:solidFill>
            <a:prstDash val="solid"/>
          </a:ln>
        </p:spPr>
      </p:sp>
      <p:sp>
        <p:nvSpPr>
          <p:cNvPr id="6" name="Shape 3"/>
          <p:cNvSpPr/>
          <p:nvPr/>
        </p:nvSpPr>
        <p:spPr>
          <a:xfrm>
            <a:off x="2103120" y="1645920"/>
            <a:ext cx="2194560" cy="2194560"/>
          </a:xfrm>
          <a:prstGeom prst="ellipse">
            <a:avLst/>
          </a:prstGeom>
          <a:solidFill>
            <a:schemeClr val="accent2">
              <a:alpha val="55000"/>
            </a:schemeClr>
          </a:solidFill>
          <a:ln w="19050">
            <a:solidFill>
              <a:schemeClr val="accent2"/>
            </a:solidFill>
            <a:prstDash val="solid"/>
          </a:ln>
        </p:spPr>
      </p:sp>
      <p:sp>
        <p:nvSpPr>
          <p:cNvPr id="7" name="Text 4"/>
          <p:cNvSpPr txBox="1"/>
          <p:nvPr/>
        </p:nvSpPr>
        <p:spPr>
          <a:xfrm>
            <a:off x="731520" y="3977640"/>
            <a:ext cx="1645920" cy="274320"/>
          </a:xfrm>
          <a:prstGeom prst="rect">
            <a:avLst/>
          </a:prstGeom>
          <a:noFill/>
          <a:ln/>
        </p:spPr>
        <p:txBody>
          <a:bodyPr wrap="square" lIns="0" tIns="0" rIns="0" bIns="0" rtlCol="0" anchor="t"/>
          <a:lstStyle/>
          <a:p>
            <a:pPr indent="0" marL="0">
              <a:buNone/>
            </a:pPr>
            <a:r>
              <a:rPr lang="en-US" sz="1200" dirty="0">
                <a:solidFill>
                  <a:schemeClr val="tx1"/>
                </a:solidFill>
              </a:rPr>
              <a:t>Target (photo)</a:t>
            </a:r>
            <a:endParaRPr lang="en-US" sz="1200" dirty="0"/>
          </a:p>
        </p:txBody>
      </p:sp>
      <p:sp>
        <p:nvSpPr>
          <p:cNvPr id="8" name="Text 5"/>
          <p:cNvSpPr txBox="1"/>
          <p:nvPr/>
        </p:nvSpPr>
        <p:spPr>
          <a:xfrm>
            <a:off x="2926080" y="3977640"/>
            <a:ext cx="1463040" cy="274320"/>
          </a:xfrm>
          <a:prstGeom prst="rect">
            <a:avLst/>
          </a:prstGeom>
          <a:noFill/>
          <a:ln/>
        </p:spPr>
        <p:txBody>
          <a:bodyPr wrap="square" lIns="0" tIns="0" rIns="0" bIns="0" rtlCol="0" anchor="t"/>
          <a:lstStyle/>
          <a:p>
            <a:pPr algn="r" indent="0" marL="0">
              <a:buNone/>
            </a:pPr>
            <a:r>
              <a:rPr lang="en-US" sz="1200" dirty="0">
                <a:solidFill>
                  <a:schemeClr val="tx1"/>
                </a:solidFill>
              </a:rPr>
              <a:t>Render (mesh)</a:t>
            </a:r>
            <a:endParaRPr lang="en-US" sz="1200" dirty="0"/>
          </a:p>
        </p:txBody>
      </p:sp>
      <p:sp>
        <p:nvSpPr>
          <p:cNvPr id="9" name="Text 6"/>
          <p:cNvSpPr txBox="1"/>
          <p:nvPr/>
        </p:nvSpPr>
        <p:spPr>
          <a:xfrm>
            <a:off x="731520" y="4343400"/>
            <a:ext cx="3566160" cy="548640"/>
          </a:xfrm>
          <a:prstGeom prst="rect">
            <a:avLst/>
          </a:prstGeom>
          <a:noFill/>
          <a:ln/>
        </p:spPr>
        <p:txBody>
          <a:bodyPr wrap="square" lIns="0" tIns="0" rIns="0" bIns="0" rtlCol="0" anchor="t"/>
          <a:lstStyle/>
          <a:p>
            <a:pPr indent="0" marL="0">
              <a:buNone/>
            </a:pPr>
            <a:r>
              <a:rPr lang="en-US" sz="1200" i="1" dirty="0">
                <a:solidFill>
                  <a:schemeClr val="tx2"/>
                </a:solidFill>
              </a:rPr>
              <a:t>Overlap = intersection; both shapes together = union</a:t>
            </a:r>
            <a:endParaRPr lang="en-US" sz="1200" dirty="0"/>
          </a:p>
        </p:txBody>
      </p:sp>
      <p:sp>
        <p:nvSpPr>
          <p:cNvPr id="10" name="Text 7"/>
          <p:cNvSpPr txBox="1"/>
          <p:nvPr/>
        </p:nvSpPr>
        <p:spPr>
          <a:xfrm>
            <a:off x="731520" y="5029200"/>
            <a:ext cx="3566160" cy="731520"/>
          </a:xfrm>
          <a:prstGeom prst="roundRect">
            <a:avLst>
              <a:gd name="adj" fmla="val 10000"/>
            </a:avLst>
          </a:prstGeom>
          <a:solidFill>
            <a:schemeClr val="tx1"/>
          </a:solidFill>
          <a:ln/>
        </p:spPr>
        <p:txBody>
          <a:bodyPr wrap="square" lIns="762" tIns="762" rIns="762" bIns="762" rtlCol="0" anchor="ctr"/>
          <a:lstStyle/>
          <a:p>
            <a:pPr algn="ctr" indent="0" marL="0">
              <a:buNone/>
            </a:pPr>
            <a:r>
              <a:rPr lang="en-US" sz="1500" b="1" dirty="0">
                <a:solidFill>
                  <a:schemeClr val="bg1"/>
                </a:solidFill>
              </a:rPr>
              <a:t>IoU = Area(Intersection) / Area(Union)</a:t>
            </a:r>
            <a:endParaRPr lang="en-US" sz="1500" dirty="0"/>
          </a:p>
        </p:txBody>
      </p:sp>
      <p:sp>
        <p:nvSpPr>
          <p:cNvPr id="11" name="Text 8"/>
          <p:cNvSpPr txBox="1"/>
          <p:nvPr/>
        </p:nvSpPr>
        <p:spPr>
          <a:xfrm>
            <a:off x="4754880" y="1417320"/>
            <a:ext cx="3200400" cy="365760"/>
          </a:xfrm>
          <a:prstGeom prst="rect">
            <a:avLst/>
          </a:prstGeom>
          <a:noFill/>
          <a:ln/>
        </p:spPr>
        <p:txBody>
          <a:bodyPr wrap="square" lIns="0" tIns="0" rIns="0" bIns="0" rtlCol="0" anchor="t"/>
          <a:lstStyle/>
          <a:p>
            <a:pPr indent="0" marL="0">
              <a:buNone/>
            </a:pPr>
            <a:r>
              <a:rPr lang="en-US" sz="1600" b="1" dirty="0">
                <a:solidFill>
                  <a:schemeClr val="tx1"/>
                </a:solidFill>
              </a:rPr>
              <a:t>How the code computes it</a:t>
            </a:r>
            <a:endParaRPr lang="en-US" sz="1600" dirty="0"/>
          </a:p>
        </p:txBody>
      </p:sp>
      <p:sp>
        <p:nvSpPr>
          <p:cNvPr id="12" name="Text 9"/>
          <p:cNvSpPr txBox="1"/>
          <p:nvPr/>
        </p:nvSpPr>
        <p:spPr>
          <a:xfrm>
            <a:off x="4754880" y="1828800"/>
            <a:ext cx="3200400" cy="4114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Masks cropped and resized to 128x128 (scale and position invariant)</a:t>
            </a:r>
            <a:endParaRPr lang="en-US" sz="1300" dirty="0"/>
          </a:p>
          <a:p>
            <a:pPr marL="342900" indent="-342900">
              <a:spcAft>
                <a:spcPts val="600"/>
              </a:spcAft>
              <a:buSzPct val="100000"/>
              <a:buChar char="•"/>
            </a:pPr>
            <a:r>
              <a:rPr lang="en-US" sz="1300" dirty="0">
                <a:solidFill>
                  <a:schemeClr val="tx1"/>
                </a:solidFill>
              </a:rPr>
              <a:t>Best of 24 camera poses (6 directions x 4 rotations)</a:t>
            </a:r>
            <a:endParaRPr lang="en-US" sz="1300" dirty="0"/>
          </a:p>
          <a:p>
            <a:pPr marL="342900" indent="-342900">
              <a:spcAft>
                <a:spcPts val="600"/>
              </a:spcAft>
              <a:buSzPct val="100000"/>
              <a:buChar char="•"/>
            </a:pPr>
            <a:r>
              <a:rPr lang="en-US" sz="1300" dirty="0">
                <a:solidFill>
                  <a:schemeClr val="tx1"/>
                </a:solidFill>
              </a:rPr>
              <a:t>Multi-view: distinct directions per view, mean IoU</a:t>
            </a:r>
            <a:endParaRPr lang="en-US" sz="1300" dirty="0"/>
          </a:p>
          <a:p>
            <a:pPr marL="342900" indent="-342900">
              <a:spcAft>
                <a:spcPts val="600"/>
              </a:spcAft>
              <a:buSzPct val="100000"/>
              <a:buChar char="•"/>
            </a:pPr>
            <a:r>
              <a:rPr lang="en-US" sz="1300" dirty="0">
                <a:solidFill>
                  <a:schemeClr val="tx1"/>
                </a:solidFill>
              </a:rPr>
              <a:t>Stop threshold 0.85 is a code setting, not a validated standard</a:t>
            </a:r>
            <a:endParaRPr lang="en-US" sz="1300" dirty="0"/>
          </a:p>
        </p:txBody>
      </p:sp>
      <p:sp>
        <p:nvSpPr>
          <p:cNvPr id="13" name="Text 10"/>
          <p:cNvSpPr txBox="1"/>
          <p:nvPr/>
        </p:nvSpPr>
        <p:spPr>
          <a:xfrm>
            <a:off x="8321040" y="1417320"/>
            <a:ext cx="3291840" cy="365760"/>
          </a:xfrm>
          <a:prstGeom prst="rect">
            <a:avLst/>
          </a:prstGeom>
          <a:noFill/>
          <a:ln/>
        </p:spPr>
        <p:txBody>
          <a:bodyPr wrap="square" lIns="0" tIns="0" rIns="0" bIns="0" rtlCol="0" anchor="t"/>
          <a:lstStyle/>
          <a:p>
            <a:pPr indent="0" marL="0">
              <a:buNone/>
            </a:pPr>
            <a:r>
              <a:rPr lang="en-US" sz="1600" b="1" dirty="0">
                <a:solidFill>
                  <a:schemeClr val="accent5"/>
                </a:solidFill>
              </a:rPr>
              <a:t>Limitations</a:t>
            </a:r>
            <a:endParaRPr lang="en-US" sz="1600" dirty="0"/>
          </a:p>
        </p:txBody>
      </p:sp>
      <p:sp>
        <p:nvSpPr>
          <p:cNvPr id="14" name="Text 11"/>
          <p:cNvSpPr txBox="1"/>
          <p:nvPr/>
        </p:nvSpPr>
        <p:spPr>
          <a:xfrm>
            <a:off x="8321040" y="1828800"/>
            <a:ext cx="3291840" cy="4114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Best-of-24 pose search makes scores optimistic</a:t>
            </a:r>
            <a:endParaRPr lang="en-US" sz="1300" dirty="0"/>
          </a:p>
          <a:p>
            <a:pPr marL="342900" indent="-342900">
              <a:spcAft>
                <a:spcPts val="600"/>
              </a:spcAft>
              <a:buSzPct val="100000"/>
              <a:buChar char="•"/>
            </a:pPr>
            <a:r>
              <a:rPr lang="en-US" sz="1300" dirty="0">
                <a:solidFill>
                  <a:schemeClr val="tx1"/>
                </a:solidFill>
              </a:rPr>
              <a:t>Orthographic render vs perspective photo</a:t>
            </a:r>
            <a:endParaRPr lang="en-US" sz="1300" dirty="0"/>
          </a:p>
          <a:p>
            <a:pPr marL="342900" indent="-342900">
              <a:spcAft>
                <a:spcPts val="600"/>
              </a:spcAft>
              <a:buSzPct val="100000"/>
              <a:buChar char="•"/>
            </a:pPr>
            <a:r>
              <a:rPr lang="en-US" sz="1300" dirty="0">
                <a:solidFill>
                  <a:schemeClr val="tx1"/>
                </a:solidFill>
              </a:rPr>
              <a:t>Hidden side of a single view is unconstrained</a:t>
            </a:r>
            <a:endParaRPr lang="en-US" sz="1300" dirty="0"/>
          </a:p>
          <a:p>
            <a:pPr marL="342900" indent="-342900">
              <a:spcAft>
                <a:spcPts val="600"/>
              </a:spcAft>
              <a:buSzPct val="100000"/>
              <a:buChar char="•"/>
            </a:pPr>
            <a:r>
              <a:rPr lang="en-US" sz="1300" dirty="0">
                <a:solidFill>
                  <a:schemeClr val="tx1"/>
                </a:solidFill>
              </a:rPr>
              <a:t>No check of depth, topology, texture or meaning</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2354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Mesh Cleanup and Optimisation</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4"/>
          </a:solidFill>
          <a:ln/>
        </p:spPr>
        <p:txBody>
          <a:bodyPr wrap="square" lIns="0" tIns="0" rIns="0" bIns="0" rtlCol="0" anchor="ctr"/>
          <a:lstStyle/>
          <a:p>
            <a:pPr algn="ctr" indent="0" marL="0">
              <a:buNone/>
            </a:pPr>
            <a:r>
              <a:rPr lang="en-US" sz="1000" b="1" dirty="0">
                <a:solidFill>
                  <a:schemeClr val="bg1"/>
                </a:solidFill>
              </a:rPr>
              <a:t>IMPLEMENTED</a:t>
            </a:r>
            <a:endParaRPr lang="en-US" sz="1000" dirty="0"/>
          </a:p>
        </p:txBody>
      </p:sp>
      <p:sp>
        <p:nvSpPr>
          <p:cNvPr id="5" name="Text 2"/>
          <p:cNvSpPr txBox="1"/>
          <p:nvPr/>
        </p:nvSpPr>
        <p:spPr>
          <a:xfrm>
            <a:off x="548640" y="1463040"/>
            <a:ext cx="2514600" cy="1188720"/>
          </a:xfrm>
          <a:prstGeom prst="roundRect">
            <a:avLst>
              <a:gd name="adj" fmla="val 6154"/>
            </a:avLst>
          </a:prstGeom>
          <a:solidFill>
            <a:schemeClr val="accent1"/>
          </a:solidFill>
          <a:ln/>
        </p:spPr>
        <p:txBody>
          <a:bodyPr wrap="square" lIns="762" tIns="762" rIns="762" bIns="762" rtlCol="0" anchor="ctr"/>
          <a:lstStyle/>
          <a:p>
            <a:pPr algn="ctr" indent="0" marL="0">
              <a:buNone/>
            </a:pPr>
            <a:r>
              <a:rPr lang="en-US" sz="1400" dirty="0">
                <a:solidFill>
                  <a:schemeClr val="bg1"/>
                </a:solidFill>
              </a:rPr>
              <a:t>1  Remove degenerate faces and unused vertices</a:t>
            </a:r>
            <a:endParaRPr lang="en-US" sz="1400" dirty="0"/>
          </a:p>
        </p:txBody>
      </p:sp>
      <p:sp>
        <p:nvSpPr>
          <p:cNvPr id="6" name="Shape 3"/>
          <p:cNvSpPr/>
          <p:nvPr/>
        </p:nvSpPr>
        <p:spPr>
          <a:xfrm>
            <a:off x="3090672" y="2057400"/>
            <a:ext cx="274320" cy="0"/>
          </a:xfrm>
          <a:prstGeom prst="line">
            <a:avLst/>
          </a:prstGeom>
          <a:noFill/>
          <a:ln w="22225">
            <a:solidFill>
              <a:schemeClr val="tx2"/>
            </a:solidFill>
            <a:prstDash val="solid"/>
            <a:tailEnd type="triangle"/>
          </a:ln>
        </p:spPr>
      </p:sp>
      <p:sp>
        <p:nvSpPr>
          <p:cNvPr id="7" name="Text 4"/>
          <p:cNvSpPr txBox="1"/>
          <p:nvPr/>
        </p:nvSpPr>
        <p:spPr>
          <a:xfrm>
            <a:off x="3383280" y="1463040"/>
            <a:ext cx="2514600" cy="1188720"/>
          </a:xfrm>
          <a:prstGeom prst="roundRect">
            <a:avLst>
              <a:gd name="adj" fmla="val 6154"/>
            </a:avLst>
          </a:prstGeom>
          <a:solidFill>
            <a:schemeClr val="accent1"/>
          </a:solidFill>
          <a:ln/>
        </p:spPr>
        <p:txBody>
          <a:bodyPr wrap="square" lIns="762" tIns="762" rIns="762" bIns="762" rtlCol="0" anchor="ctr"/>
          <a:lstStyle/>
          <a:p>
            <a:pPr algn="ctr" indent="0" marL="0">
              <a:buNone/>
            </a:pPr>
            <a:r>
              <a:rPr lang="en-US" sz="1400" dirty="0">
                <a:solidFill>
                  <a:schemeClr val="bg1"/>
                </a:solidFill>
              </a:rPr>
              <a:t>2  Filter small disconnected parts (&lt; 3% of largest)</a:t>
            </a:r>
            <a:endParaRPr lang="en-US" sz="1400" dirty="0"/>
          </a:p>
        </p:txBody>
      </p:sp>
      <p:sp>
        <p:nvSpPr>
          <p:cNvPr id="8" name="Shape 5"/>
          <p:cNvSpPr/>
          <p:nvPr/>
        </p:nvSpPr>
        <p:spPr>
          <a:xfrm>
            <a:off x="5925312" y="2057400"/>
            <a:ext cx="274320" cy="0"/>
          </a:xfrm>
          <a:prstGeom prst="line">
            <a:avLst/>
          </a:prstGeom>
          <a:noFill/>
          <a:ln w="22225">
            <a:solidFill>
              <a:schemeClr val="tx2"/>
            </a:solidFill>
            <a:prstDash val="solid"/>
            <a:tailEnd type="triangle"/>
          </a:ln>
        </p:spPr>
      </p:sp>
      <p:sp>
        <p:nvSpPr>
          <p:cNvPr id="9" name="Text 6"/>
          <p:cNvSpPr txBox="1"/>
          <p:nvPr/>
        </p:nvSpPr>
        <p:spPr>
          <a:xfrm>
            <a:off x="6217920" y="1463040"/>
            <a:ext cx="2514600" cy="1188720"/>
          </a:xfrm>
          <a:prstGeom prst="roundRect">
            <a:avLst>
              <a:gd name="adj" fmla="val 6154"/>
            </a:avLst>
          </a:prstGeom>
          <a:solidFill>
            <a:schemeClr val="accent1"/>
          </a:solidFill>
          <a:ln/>
        </p:spPr>
        <p:txBody>
          <a:bodyPr wrap="square" lIns="762" tIns="762" rIns="762" bIns="762" rtlCol="0" anchor="ctr"/>
          <a:lstStyle/>
          <a:p>
            <a:pPr algn="ctr" indent="0" marL="0">
              <a:buNone/>
            </a:pPr>
            <a:r>
              <a:rPr lang="en-US" sz="1400" dirty="0">
                <a:solidFill>
                  <a:schemeClr val="bg1"/>
                </a:solidFill>
              </a:rPr>
              <a:t>3  Fill holes, fix normals (best effort)</a:t>
            </a:r>
            <a:endParaRPr lang="en-US" sz="1400" dirty="0"/>
          </a:p>
        </p:txBody>
      </p:sp>
      <p:sp>
        <p:nvSpPr>
          <p:cNvPr id="10" name="Shape 7"/>
          <p:cNvSpPr/>
          <p:nvPr/>
        </p:nvSpPr>
        <p:spPr>
          <a:xfrm>
            <a:off x="8759952" y="2057400"/>
            <a:ext cx="274320" cy="0"/>
          </a:xfrm>
          <a:prstGeom prst="line">
            <a:avLst/>
          </a:prstGeom>
          <a:noFill/>
          <a:ln w="22225">
            <a:solidFill>
              <a:schemeClr val="tx2"/>
            </a:solidFill>
            <a:prstDash val="solid"/>
            <a:tailEnd type="triangle"/>
          </a:ln>
        </p:spPr>
      </p:sp>
      <p:sp>
        <p:nvSpPr>
          <p:cNvPr id="11" name="Text 8"/>
          <p:cNvSpPr txBox="1"/>
          <p:nvPr/>
        </p:nvSpPr>
        <p:spPr>
          <a:xfrm>
            <a:off x="9052560" y="1463040"/>
            <a:ext cx="2514600" cy="1188720"/>
          </a:xfrm>
          <a:prstGeom prst="roundRect">
            <a:avLst>
              <a:gd name="adj" fmla="val 6154"/>
            </a:avLst>
          </a:prstGeom>
          <a:solidFill>
            <a:schemeClr val="accent1"/>
          </a:solidFill>
          <a:ln/>
        </p:spPr>
        <p:txBody>
          <a:bodyPr wrap="square" lIns="762" tIns="762" rIns="762" bIns="762" rtlCol="0" anchor="ctr"/>
          <a:lstStyle/>
          <a:p>
            <a:pPr algn="ctr" indent="0" marL="0">
              <a:buNone/>
            </a:pPr>
            <a:r>
              <a:rPr lang="en-US" sz="1400" dirty="0">
                <a:solidFill>
                  <a:schemeClr val="bg1"/>
                </a:solidFill>
              </a:rPr>
              <a:t>4  Decimate to &lt;= 80,000 faces, keep colours</a:t>
            </a:r>
            <a:endParaRPr lang="en-US" sz="1400" dirty="0"/>
          </a:p>
        </p:txBody>
      </p:sp>
      <p:sp>
        <p:nvSpPr>
          <p:cNvPr id="12" name="Text 9"/>
          <p:cNvSpPr txBox="1"/>
          <p:nvPr/>
        </p:nvSpPr>
        <p:spPr>
          <a:xfrm>
            <a:off x="548640" y="3200400"/>
            <a:ext cx="2514600" cy="1188720"/>
          </a:xfrm>
          <a:prstGeom prst="roundRect">
            <a:avLst>
              <a:gd name="adj" fmla="val 6154"/>
            </a:avLst>
          </a:prstGeom>
          <a:solidFill>
            <a:schemeClr val="accent1"/>
          </a:solidFill>
          <a:ln/>
        </p:spPr>
        <p:txBody>
          <a:bodyPr wrap="square" lIns="762" tIns="762" rIns="762" bIns="762" rtlCol="0" anchor="ctr"/>
          <a:lstStyle/>
          <a:p>
            <a:pPr algn="ctr" indent="0" marL="0">
              <a:buNone/>
            </a:pPr>
            <a:r>
              <a:rPr lang="en-US" sz="1400" dirty="0">
                <a:solidFill>
                  <a:schemeClr val="bg1"/>
                </a:solidFill>
              </a:rPr>
              <a:t>5  Centre and scale to unit size</a:t>
            </a:r>
            <a:endParaRPr lang="en-US" sz="1400" dirty="0"/>
          </a:p>
        </p:txBody>
      </p:sp>
      <p:sp>
        <p:nvSpPr>
          <p:cNvPr id="13" name="Shape 10"/>
          <p:cNvSpPr/>
          <p:nvPr/>
        </p:nvSpPr>
        <p:spPr>
          <a:xfrm>
            <a:off x="3090672" y="3794760"/>
            <a:ext cx="274320" cy="0"/>
          </a:xfrm>
          <a:prstGeom prst="line">
            <a:avLst/>
          </a:prstGeom>
          <a:noFill/>
          <a:ln w="22225">
            <a:solidFill>
              <a:schemeClr val="tx2"/>
            </a:solidFill>
            <a:prstDash val="solid"/>
            <a:tailEnd type="triangle"/>
          </a:ln>
        </p:spPr>
      </p:sp>
      <p:sp>
        <p:nvSpPr>
          <p:cNvPr id="14" name="Text 11"/>
          <p:cNvSpPr txBox="1"/>
          <p:nvPr/>
        </p:nvSpPr>
        <p:spPr>
          <a:xfrm>
            <a:off x="3383280" y="3200400"/>
            <a:ext cx="2514600" cy="1188720"/>
          </a:xfrm>
          <a:prstGeom prst="roundRect">
            <a:avLst>
              <a:gd name="adj" fmla="val 6154"/>
            </a:avLst>
          </a:prstGeom>
          <a:solidFill>
            <a:schemeClr val="accent2"/>
          </a:solidFill>
          <a:ln/>
        </p:spPr>
        <p:txBody>
          <a:bodyPr wrap="square" lIns="762" tIns="762" rIns="762" bIns="762" rtlCol="0" anchor="ctr"/>
          <a:lstStyle/>
          <a:p>
            <a:pPr algn="ctr" indent="0" marL="0">
              <a:buNone/>
            </a:pPr>
            <a:r>
              <a:rPr lang="en-US" sz="1400" dirty="0">
                <a:solidFill>
                  <a:schemeClr val="bg1"/>
                </a:solidFill>
              </a:rPr>
              <a:t>6  Orient to the input view</a:t>
            </a:r>
            <a:endParaRPr lang="en-US" sz="1400" dirty="0"/>
          </a:p>
        </p:txBody>
      </p:sp>
      <p:sp>
        <p:nvSpPr>
          <p:cNvPr id="15" name="Shape 12"/>
          <p:cNvSpPr/>
          <p:nvPr/>
        </p:nvSpPr>
        <p:spPr>
          <a:xfrm>
            <a:off x="5925312" y="3794760"/>
            <a:ext cx="274320" cy="0"/>
          </a:xfrm>
          <a:prstGeom prst="line">
            <a:avLst/>
          </a:prstGeom>
          <a:noFill/>
          <a:ln w="22225">
            <a:solidFill>
              <a:schemeClr val="tx2"/>
            </a:solidFill>
            <a:prstDash val="solid"/>
            <a:tailEnd type="triangle"/>
          </a:ln>
        </p:spPr>
      </p:sp>
      <p:sp>
        <p:nvSpPr>
          <p:cNvPr id="16" name="Text 13"/>
          <p:cNvSpPr txBox="1"/>
          <p:nvPr/>
        </p:nvSpPr>
        <p:spPr>
          <a:xfrm>
            <a:off x="6217920" y="3200400"/>
            <a:ext cx="2514600" cy="1188720"/>
          </a:xfrm>
          <a:prstGeom prst="roundRect">
            <a:avLst>
              <a:gd name="adj" fmla="val 6154"/>
            </a:avLst>
          </a:prstGeom>
          <a:solidFill>
            <a:schemeClr val="accent2"/>
          </a:solidFill>
          <a:ln/>
        </p:spPr>
        <p:txBody>
          <a:bodyPr wrap="square" lIns="762" tIns="762" rIns="762" bIns="762" rtlCol="0" anchor="ctr"/>
          <a:lstStyle/>
          <a:p>
            <a:pPr algn="ctr" indent="0" marL="0">
              <a:buNone/>
            </a:pPr>
            <a:r>
              <a:rPr lang="en-US" sz="1400" dirty="0">
                <a:solidFill>
                  <a:schemeClr val="bg1"/>
                </a:solidFill>
              </a:rPr>
              <a:t>7  Project colours from the photo</a:t>
            </a:r>
            <a:endParaRPr lang="en-US" sz="1400" dirty="0"/>
          </a:p>
        </p:txBody>
      </p:sp>
      <p:sp>
        <p:nvSpPr>
          <p:cNvPr id="17" name="Text 14"/>
          <p:cNvSpPr txBox="1"/>
          <p:nvPr/>
        </p:nvSpPr>
        <p:spPr>
          <a:xfrm>
            <a:off x="9052560" y="3200400"/>
            <a:ext cx="2560320" cy="1188720"/>
          </a:xfrm>
          <a:prstGeom prst="roundRect">
            <a:avLst>
              <a:gd name="adj" fmla="val 6154"/>
            </a:avLst>
          </a:prstGeom>
          <a:solidFill>
            <a:schemeClr val="bg2"/>
          </a:solidFill>
          <a:ln/>
        </p:spPr>
        <p:txBody>
          <a:bodyPr wrap="square" lIns="762" tIns="762" rIns="762" bIns="762" rtlCol="0" anchor="ctr"/>
          <a:lstStyle/>
          <a:p>
            <a:pPr algn="ctr" indent="0" marL="0">
              <a:buNone/>
            </a:pPr>
            <a:r>
              <a:rPr lang="en-US" sz="1200" dirty="0">
                <a:solidFill>
                  <a:schemeClr val="tx1"/>
                </a:solidFill>
              </a:rPr>
              <a:t>Steps 1-5 run per candidate; steps 6-7 run once on the selected mesh. Schematic only: no real before/after meshes are shown.</a:t>
            </a:r>
            <a:endParaRPr lang="en-US" sz="1200" dirty="0"/>
          </a:p>
        </p:txBody>
      </p:sp>
      <p:sp>
        <p:nvSpPr>
          <p:cNvPr id="18" name="Text 15"/>
          <p:cNvSpPr txBox="1"/>
          <p:nvPr/>
        </p:nvSpPr>
        <p:spPr>
          <a:xfrm>
            <a:off x="548640" y="5120640"/>
            <a:ext cx="11064240" cy="731520"/>
          </a:xfrm>
          <a:prstGeom prst="rect">
            <a:avLst/>
          </a:prstGeom>
          <a:noFill/>
          <a:ln/>
        </p:spPr>
        <p:txBody>
          <a:bodyPr wrap="square" lIns="0" tIns="0" rIns="0" bIns="0" rtlCol="0" anchor="t"/>
          <a:lstStyle/>
          <a:p>
            <a:pPr indent="0" marL="0">
              <a:buNone/>
            </a:pPr>
            <a:r>
              <a:rPr lang="en-US" sz="1400" i="1" dirty="0">
                <a:solidFill>
                  <a:schemeClr val="tx2"/>
                </a:solidFill>
              </a:rPr>
              <a:t>The 80,000-face limit (MAX_FACES) is a configured target, not a guarantee, and does not make a mesh suitable for every production use.</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2354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Colour Projection and 3D Preview</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1"/>
          </a:solidFill>
          <a:ln/>
        </p:spPr>
        <p:txBody>
          <a:bodyPr wrap="square" lIns="0" tIns="0" rIns="0" bIns="0" rtlCol="0" anchor="ctr"/>
          <a:lstStyle/>
          <a:p>
            <a:pPr algn="ctr" indent="0" marL="0">
              <a:buNone/>
            </a:pPr>
            <a:r>
              <a:rPr lang="en-US" sz="1000" b="1" dirty="0">
                <a:solidFill>
                  <a:schemeClr val="bg1"/>
                </a:solidFill>
              </a:rPr>
              <a:t>ONE RUN OBSERVED</a:t>
            </a:r>
            <a:endParaRPr lang="en-US" sz="1000" dirty="0"/>
          </a:p>
        </p:txBody>
      </p:sp>
      <p:pic>
        <p:nvPicPr>
          <p:cNvPr id="5" name="preview sheet" descr="/home/claude/deck/assets/sheet.png">    </p:cNvPr>
          <p:cNvPicPr>
            <a:picLocks noChangeAspect="1"/>
          </p:cNvPicPr>
          <p:nvPr/>
        </p:nvPicPr>
        <p:blipFill>
          <a:blip r:embed="rId1"/>
          <a:stretch>
            <a:fillRect/>
          </a:stretch>
        </p:blipFill>
        <p:spPr>
          <a:xfrm>
            <a:off x="548640" y="1325880"/>
            <a:ext cx="11064240" cy="2212848"/>
          </a:xfrm>
          <a:prstGeom prst="rect">
            <a:avLst/>
          </a:prstGeom>
        </p:spPr>
      </p:pic>
      <p:sp>
        <p:nvSpPr>
          <p:cNvPr id="6" name="Text 2"/>
          <p:cNvSpPr txBox="1"/>
          <p:nvPr/>
        </p:nvSpPr>
        <p:spPr>
          <a:xfrm>
            <a:off x="548640" y="3566160"/>
            <a:ext cx="11064240" cy="274320"/>
          </a:xfrm>
          <a:prstGeom prst="rect">
            <a:avLst/>
          </a:prstGeom>
          <a:noFill/>
          <a:ln/>
        </p:spPr>
        <p:txBody>
          <a:bodyPr wrap="square" lIns="0" tIns="0" rIns="0" bIns="0" rtlCol="0" anchor="t"/>
          <a:lstStyle/>
          <a:p>
            <a:pPr indent="0" marL="0">
              <a:buNone/>
            </a:pPr>
            <a:r>
              <a:rPr lang="en-US" sz="1100" i="1" dirty="0">
                <a:solidFill>
                  <a:schemeClr val="tx2"/>
                </a:solidFill>
              </a:rPr>
              <a:t>Preview sheet from one run: cut-out input, then four orbit views drawn by the notebook's point-splat renderer (dotted look). Unedited.</a:t>
            </a:r>
            <a:endParaRPr lang="en-US" sz="1100" dirty="0"/>
          </a:p>
        </p:txBody>
      </p:sp>
      <p:pic>
        <p:nvPicPr>
          <p:cNvPr id="7" name="Image 1" descr="/home/claude/deck/assets/view1.png">    </p:cNvPr>
          <p:cNvPicPr>
            <a:picLocks noChangeAspect="1"/>
          </p:cNvPicPr>
          <p:nvPr/>
        </p:nvPicPr>
        <p:blipFill>
          <a:blip r:embed="rId2"/>
          <a:stretch>
            <a:fillRect/>
          </a:stretch>
        </p:blipFill>
        <p:spPr>
          <a:xfrm>
            <a:off x="548640" y="3977640"/>
            <a:ext cx="2651760" cy="1618488"/>
          </a:xfrm>
          <a:prstGeom prst="rect">
            <a:avLst/>
          </a:prstGeom>
        </p:spPr>
      </p:pic>
      <p:pic>
        <p:nvPicPr>
          <p:cNvPr id="8" name="Image 2" descr="/home/claude/deck/assets/view2.png">    </p:cNvPr>
          <p:cNvPicPr>
            <a:picLocks noChangeAspect="1"/>
          </p:cNvPicPr>
          <p:nvPr/>
        </p:nvPicPr>
        <p:blipFill>
          <a:blip r:embed="rId3"/>
          <a:stretch>
            <a:fillRect/>
          </a:stretch>
        </p:blipFill>
        <p:spPr>
          <a:xfrm>
            <a:off x="3383280" y="3977640"/>
            <a:ext cx="1737360" cy="1609344"/>
          </a:xfrm>
          <a:prstGeom prst="rect">
            <a:avLst/>
          </a:prstGeom>
        </p:spPr>
      </p:pic>
      <p:sp>
        <p:nvSpPr>
          <p:cNvPr id="9" name="Text 3"/>
          <p:cNvSpPr txBox="1"/>
          <p:nvPr/>
        </p:nvSpPr>
        <p:spPr>
          <a:xfrm>
            <a:off x="548640" y="5669280"/>
            <a:ext cx="4572000" cy="274320"/>
          </a:xfrm>
          <a:prstGeom prst="rect">
            <a:avLst/>
          </a:prstGeom>
          <a:noFill/>
          <a:ln/>
        </p:spPr>
        <p:txBody>
          <a:bodyPr wrap="square" lIns="0" tIns="0" rIns="0" bIns="0" rtlCol="0" anchor="t"/>
          <a:lstStyle/>
          <a:p>
            <a:pPr indent="0" marL="0">
              <a:buNone/>
            </a:pPr>
            <a:r>
              <a:rPr lang="en-US" sz="1100" i="1" dirty="0">
                <a:solidFill>
                  <a:schemeClr val="tx2"/>
                </a:solidFill>
              </a:rPr>
              <a:t>Interactive viewer captures, same mesh</a:t>
            </a:r>
            <a:endParaRPr lang="en-US" sz="1100" dirty="0"/>
          </a:p>
        </p:txBody>
      </p:sp>
      <p:sp>
        <p:nvSpPr>
          <p:cNvPr id="10" name="Text 4"/>
          <p:cNvSpPr txBox="1"/>
          <p:nvPr/>
        </p:nvSpPr>
        <p:spPr>
          <a:xfrm>
            <a:off x="5486400" y="3977640"/>
            <a:ext cx="612648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Visible vertices take photo colour; hidden ones are filled approximately</a:t>
            </a:r>
            <a:endParaRPr lang="en-US" sz="1400" dirty="0"/>
          </a:p>
          <a:p>
            <a:pPr marL="342900" indent="-342900">
              <a:spcAft>
                <a:spcPts val="600"/>
              </a:spcAft>
              <a:buSzPct val="100000"/>
              <a:buChar char="•"/>
            </a:pPr>
            <a:r>
              <a:rPr lang="en-US" sz="1400" dirty="0">
                <a:solidFill>
                  <a:schemeClr val="tx1"/>
                </a:solidFill>
              </a:rPr>
              <a:t>Not a physically accurate material</a:t>
            </a:r>
            <a:endParaRPr lang="en-US" sz="1400" dirty="0"/>
          </a:p>
          <a:p>
            <a:pPr marL="342900" indent="-342900">
              <a:spcAft>
                <a:spcPts val="600"/>
              </a:spcAft>
              <a:buSzPct val="100000"/>
              <a:buChar char="•"/>
            </a:pPr>
            <a:r>
              <a:rPr lang="en-US" sz="1400" dirty="0">
                <a:solidFill>
                  <a:schemeClr val="tx1"/>
                </a:solidFill>
              </a:rPr>
              <a:t>In this one run: colour is blotchy and the mesh looks tilted versus the upright input; orientation and colour projection need work</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2354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Output Formats and Deliverables</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4"/>
          </a:solidFill>
          <a:ln/>
        </p:spPr>
        <p:txBody>
          <a:bodyPr wrap="square" lIns="0" tIns="0" rIns="0" bIns="0" rtlCol="0" anchor="ctr"/>
          <a:lstStyle/>
          <a:p>
            <a:pPr algn="ctr" indent="0" marL="0">
              <a:buNone/>
            </a:pPr>
            <a:r>
              <a:rPr lang="en-US" sz="1000" b="1" dirty="0">
                <a:solidFill>
                  <a:schemeClr val="bg1"/>
                </a:solidFill>
              </a:rPr>
              <a:t>DEFINED IN CODE</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828800"/>
                <a:gridCol w="4572000"/>
                <a:gridCol w="4663440"/>
              </a:tblGrid>
              <a:tr h="475488">
                <a:tc>
                  <a:txBody>
                    <a:bodyPr/>
                    <a:lstStyle/>
                    <a:p>
                      <a:pPr indent="0" marL="0">
                        <a:buNone/>
                      </a:pPr>
                      <a:r>
                        <a:rPr lang="en-US" sz="1200" b="1" dirty="0">
                          <a:solidFill>
                            <a:schemeClr val="bg1"/>
                          </a:solidFill>
                        </a:rPr>
                        <a:t>Output</a:t>
                      </a:r>
                      <a:endParaRPr lang="en-US" sz="12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Typical purpose</a:t>
                      </a:r>
                      <a:endParaRPr lang="en-US" sz="12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Note for this notebook</a:t>
                      </a:r>
                      <a:endParaRPr lang="en-US" sz="12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r>
              <a:tr h="475488">
                <a:tc>
                  <a:txBody>
                    <a:bodyPr/>
                    <a:lstStyle/>
                    <a:p>
                      <a:pPr indent="0" marL="0">
                        <a:buNone/>
                      </a:pPr>
                      <a:r>
                        <a:rPr lang="en-US" sz="1300" dirty="0">
                          <a:solidFill>
                            <a:schemeClr val="tx1"/>
                          </a:solidFill>
                        </a:rPr>
                        <a:t>GLB</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300" dirty="0">
                          <a:solidFill>
                            <a:schemeClr val="tx1"/>
                          </a:solidFill>
                        </a:rPr>
                        <a:t>Compact asset format for viewers and the web</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300" dirty="0">
                          <a:solidFill>
                            <a:schemeClr val="tx1"/>
                          </a:solidFill>
                        </a:rPr>
                        <a:t>Carries geometry and vertex colours</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75488">
                <a:tc>
                  <a:txBody>
                    <a:bodyPr/>
                    <a:lstStyle/>
                    <a:p>
                      <a:pPr indent="0" marL="0">
                        <a:buNone/>
                      </a:pPr>
                      <a:r>
                        <a:rPr lang="en-US" sz="1300" dirty="0">
                          <a:solidFill>
                            <a:schemeClr val="tx1"/>
                          </a:solidFill>
                        </a:rPr>
                        <a:t>OBJ</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300" dirty="0">
                          <a:solidFill>
                            <a:schemeClr val="tx1"/>
                          </a:solidFill>
                        </a:rPr>
                        <a:t>Widely supported interchange format</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300" dirty="0">
                          <a:solidFill>
                            <a:schemeClr val="tx1"/>
                          </a:solidFill>
                        </a:rPr>
                        <a:t>Written from a colourless copy (geometry only)</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75488">
                <a:tc>
                  <a:txBody>
                    <a:bodyPr/>
                    <a:lstStyle/>
                    <a:p>
                      <a:pPr indent="0" marL="0">
                        <a:buNone/>
                      </a:pPr>
                      <a:r>
                        <a:rPr lang="en-US" sz="1300" dirty="0">
                          <a:solidFill>
                            <a:schemeClr val="tx1"/>
                          </a:solidFill>
                        </a:rPr>
                        <a:t>STL</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300" dirty="0">
                          <a:solidFill>
                            <a:schemeClr val="tx1"/>
                          </a:solidFill>
                        </a:rPr>
                        <a:t>Geometry-only; common in 3D printing</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300" dirty="0">
                          <a:solidFill>
                            <a:schemeClr val="tx1"/>
                          </a:solidFill>
                        </a:rPr>
                        <a:t>No colour or material information</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75488">
                <a:tc>
                  <a:txBody>
                    <a:bodyPr/>
                    <a:lstStyle/>
                    <a:p>
                      <a:pPr indent="0" marL="0">
                        <a:buNone/>
                      </a:pPr>
                      <a:r>
                        <a:rPr lang="en-US" sz="1300" dirty="0">
                          <a:solidFill>
                            <a:schemeClr val="tx1"/>
                          </a:solidFill>
                        </a:rPr>
                        <a:t>PNG preview</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300" dirty="0">
                          <a:solidFill>
                            <a:schemeClr val="tx1"/>
                          </a:solidFill>
                        </a:rPr>
                        <a:t>Quick visual check</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300" dirty="0">
                          <a:solidFill>
                            <a:schemeClr val="tx1"/>
                          </a:solidFill>
                        </a:rPr>
                        <a:t>Input cut-out + 4 orbit views</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75488">
                <a:tc>
                  <a:txBody>
                    <a:bodyPr/>
                    <a:lstStyle/>
                    <a:p>
                      <a:pPr indent="0" marL="0">
                        <a:buNone/>
                      </a:pPr>
                      <a:r>
                        <a:rPr lang="en-US" sz="1300" dirty="0">
                          <a:solidFill>
                            <a:schemeClr val="tx1"/>
                          </a:solidFill>
                        </a:rPr>
                        <a:t>JSON report</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300" dirty="0">
                          <a:solidFill>
                            <a:schemeClr val="tx1"/>
                          </a:solidFill>
                        </a:rPr>
                        <a:t>Structured run information</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300" dirty="0">
                          <a:solidFill>
                            <a:schemeClr val="tx1"/>
                          </a:solidFill>
                        </a:rPr>
                        <a:t>Backend, seed, IoU, faces, warnings, time</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75488">
                <a:tc>
                  <a:txBody>
                    <a:bodyPr/>
                    <a:lstStyle/>
                    <a:p>
                      <a:pPr indent="0" marL="0">
                        <a:buNone/>
                      </a:pPr>
                      <a:r>
                        <a:rPr lang="en-US" sz="1300" dirty="0">
                          <a:solidFill>
                            <a:schemeClr val="tx1"/>
                          </a:solidFill>
                        </a:rPr>
                        <a:t>CSV table</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300" dirty="0">
                          <a:solidFill>
                            <a:schemeClr val="tx1"/>
                          </a:solidFill>
                        </a:rPr>
                        <a:t>Batch evaluation results</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300" dirty="0">
                          <a:solidFill>
                            <a:schemeClr val="tx1"/>
                          </a:solidFill>
                        </a:rPr>
                        <a:t>evaluation.csv from cell 8</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75488">
                <a:tc>
                  <a:txBody>
                    <a:bodyPr/>
                    <a:lstStyle/>
                    <a:p>
                      <a:pPr indent="0" marL="0">
                        <a:buNone/>
                      </a:pPr>
                      <a:r>
                        <a:rPr lang="en-US" sz="1300" dirty="0">
                          <a:solidFill>
                            <a:schemeClr val="tx1"/>
                          </a:solidFill>
                        </a:rPr>
                        <a:t>ZIP bundle</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300" dirty="0">
                          <a:solidFill>
                            <a:schemeClr val="tx1"/>
                          </a:solidFill>
                        </a:rPr>
                        <a:t>One-click download of all outputs</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300" dirty="0">
                          <a:solidFill>
                            <a:schemeClr val="tx1"/>
                          </a:solidFill>
                        </a:rPr>
                        <a:t>Cell 9</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bl>
          </a:graphicData>
        </a:graphic>
      </p:graphicFrame>
      <p:sp>
        <p:nvSpPr>
          <p:cNvPr id="6" name="Text 2"/>
          <p:cNvSpPr txBox="1"/>
          <p:nvPr/>
        </p:nvSpPr>
        <p:spPr>
          <a:xfrm>
            <a:off x="548640" y="5486400"/>
            <a:ext cx="11064240" cy="365760"/>
          </a:xfrm>
          <a:prstGeom prst="rect">
            <a:avLst/>
          </a:prstGeom>
          <a:noFill/>
          <a:ln/>
        </p:spPr>
        <p:txBody>
          <a:bodyPr wrap="square" lIns="0" tIns="0" rIns="0" bIns="0" rtlCol="0" anchor="t"/>
          <a:lstStyle/>
          <a:p>
            <a:pPr indent="0" marL="0">
              <a:buNone/>
            </a:pPr>
            <a:r>
              <a:rPr lang="en-US" sz="1200" i="1" dirty="0">
                <a:solidFill>
                  <a:schemeClr val="tx2"/>
                </a:solidFill>
              </a:rPr>
              <a:t>Formats are defined in code; a given run may not produce all of them.</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2354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Interfaces and Demonstration Workflow</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3"/>
          </a:solidFill>
          <a:ln/>
        </p:spPr>
        <p:txBody>
          <a:bodyPr wrap="square" lIns="0" tIns="0" rIns="0" bIns="0" rtlCol="0" anchor="ctr"/>
          <a:lstStyle/>
          <a:p>
            <a:pPr algn="ctr" indent="0" marL="0">
              <a:buNone/>
            </a:pPr>
            <a:r>
              <a:rPr lang="en-US" sz="1000" b="1" dirty="0">
                <a:solidFill>
                  <a:schemeClr val="bg1"/>
                </a:solidFill>
              </a:rPr>
              <a:t>UNVERIFIED</a:t>
            </a:r>
            <a:endParaRPr lang="en-US" sz="1000" dirty="0"/>
          </a:p>
        </p:txBody>
      </p:sp>
      <p:sp>
        <p:nvSpPr>
          <p:cNvPr id="5" name="Text 2"/>
          <p:cNvSpPr txBox="1"/>
          <p:nvPr/>
        </p:nvSpPr>
        <p:spPr>
          <a:xfrm>
            <a:off x="548640" y="1371600"/>
            <a:ext cx="5394960" cy="457200"/>
          </a:xfrm>
          <a:prstGeom prst="roundRect">
            <a:avLst>
              <a:gd name="adj" fmla="val 16000"/>
            </a:avLst>
          </a:prstGeom>
          <a:solidFill>
            <a:schemeClr val="accent1"/>
          </a:solidFill>
          <a:ln/>
        </p:spPr>
        <p:txBody>
          <a:bodyPr wrap="square" lIns="762" tIns="762" rIns="762" bIns="762" rtlCol="0" anchor="ctr"/>
          <a:lstStyle/>
          <a:p>
            <a:pPr algn="ctr" indent="0" marL="0">
              <a:buNone/>
            </a:pPr>
            <a:r>
              <a:rPr lang="en-US" sz="1500" b="1" dirty="0">
                <a:solidFill>
                  <a:schemeClr val="bg1"/>
                </a:solidFill>
              </a:rPr>
              <a:t>Google Colab (core)</a:t>
            </a:r>
            <a:endParaRPr lang="en-US" sz="1500" dirty="0"/>
          </a:p>
        </p:txBody>
      </p:sp>
      <p:sp>
        <p:nvSpPr>
          <p:cNvPr id="6" name="Text 3"/>
          <p:cNvSpPr txBox="1"/>
          <p:nvPr/>
        </p:nvSpPr>
        <p:spPr>
          <a:xfrm>
            <a:off x="548640" y="1965960"/>
            <a:ext cx="5394960" cy="320040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400" dirty="0">
                <a:solidFill>
                  <a:schemeClr val="tx1"/>
                </a:solidFill>
              </a:rPr>
              <a:t>Choose one image, 2-4 views, or a repo sample</a:t>
            </a:r>
            <a:endParaRPr lang="en-US" sz="1400" dirty="0"/>
          </a:p>
          <a:p>
            <a:pPr marL="342900" indent="-342900">
              <a:spcAft>
                <a:spcPts val="600"/>
              </a:spcAft>
              <a:buSzPct val="100000"/>
              <a:buFont typeface="+mj-lt"/>
              <a:buAutoNum type="arabicPeriod" startAt="1"/>
            </a:pPr>
            <a:r>
              <a:rPr lang="en-US" sz="1400" dirty="0">
                <a:solidFill>
                  <a:schemeClr val="tx1"/>
                </a:solidFill>
              </a:rPr>
              <a:t>Run the agent</a:t>
            </a:r>
            <a:endParaRPr lang="en-US" sz="1400" dirty="0"/>
          </a:p>
          <a:p>
            <a:pPr marL="342900" indent="-342900">
              <a:spcAft>
                <a:spcPts val="600"/>
              </a:spcAft>
              <a:buSzPct val="100000"/>
              <a:buFont typeface="+mj-lt"/>
              <a:buAutoNum type="arabicPeriod" startAt="1"/>
            </a:pPr>
            <a:r>
              <a:rPr lang="en-US" sz="1400" dirty="0">
                <a:solidFill>
                  <a:schemeClr val="tx1"/>
                </a:solidFill>
              </a:rPr>
              <a:t>Read image-quality warnings</a:t>
            </a:r>
            <a:endParaRPr lang="en-US" sz="1400" dirty="0"/>
          </a:p>
          <a:p>
            <a:pPr marL="342900" indent="-342900">
              <a:spcAft>
                <a:spcPts val="600"/>
              </a:spcAft>
              <a:buSzPct val="100000"/>
              <a:buFont typeface="+mj-lt"/>
              <a:buAutoNum type="arabicPeriod" startAt="1"/>
            </a:pPr>
            <a:r>
              <a:rPr lang="en-US" sz="1400" dirty="0">
                <a:solidFill>
                  <a:schemeClr val="tx1"/>
                </a:solidFill>
              </a:rPr>
              <a:t>Review selected candidate and IoU</a:t>
            </a:r>
            <a:endParaRPr lang="en-US" sz="1400" dirty="0"/>
          </a:p>
          <a:p>
            <a:pPr marL="342900" indent="-342900">
              <a:spcAft>
                <a:spcPts val="600"/>
              </a:spcAft>
              <a:buSzPct val="100000"/>
              <a:buFont typeface="+mj-lt"/>
              <a:buAutoNum type="arabicPeriod" startAt="1"/>
            </a:pPr>
            <a:r>
              <a:rPr lang="en-US" sz="1400" dirty="0">
                <a:solidFill>
                  <a:schemeClr val="tx1"/>
                </a:solidFill>
              </a:rPr>
              <a:t>Inspect preview sheet and 3D viewer</a:t>
            </a:r>
            <a:endParaRPr lang="en-US" sz="1400" dirty="0"/>
          </a:p>
          <a:p>
            <a:pPr marL="342900" indent="-342900">
              <a:spcAft>
                <a:spcPts val="600"/>
              </a:spcAft>
              <a:buSzPct val="100000"/>
              <a:buFont typeface="+mj-lt"/>
              <a:buAutoNum type="arabicPeriod" startAt="1"/>
            </a:pPr>
            <a:r>
              <a:rPr lang="en-US" sz="1400" dirty="0">
                <a:solidFill>
                  <a:schemeClr val="tx1"/>
                </a:solidFill>
              </a:rPr>
              <a:t>Download GLB / OBJ / STL / report (ZIP)</a:t>
            </a:r>
            <a:endParaRPr lang="en-US" sz="1400" dirty="0"/>
          </a:p>
        </p:txBody>
      </p:sp>
      <p:sp>
        <p:nvSpPr>
          <p:cNvPr id="7" name="Text 4"/>
          <p:cNvSpPr txBox="1"/>
          <p:nvPr/>
        </p:nvSpPr>
        <p:spPr>
          <a:xfrm>
            <a:off x="6217920" y="1371600"/>
            <a:ext cx="5394960" cy="457200"/>
          </a:xfrm>
          <a:prstGeom prst="roundRect">
            <a:avLst>
              <a:gd name="adj" fmla="val 16000"/>
            </a:avLst>
          </a:prstGeom>
          <a:solidFill>
            <a:schemeClr val="accent6"/>
          </a:solidFill>
          <a:ln/>
        </p:spPr>
        <p:txBody>
          <a:bodyPr wrap="square" lIns="762" tIns="762" rIns="762" bIns="762" rtlCol="0" anchor="ctr"/>
          <a:lstStyle/>
          <a:p>
            <a:pPr algn="ctr" indent="0" marL="0">
              <a:buNone/>
            </a:pPr>
            <a:r>
              <a:rPr lang="en-US" sz="1500" b="1" dirty="0">
                <a:solidFill>
                  <a:schemeClr val="bg1"/>
                </a:solidFill>
              </a:rPr>
              <a:t>Optional Gradio interface</a:t>
            </a:r>
            <a:endParaRPr lang="en-US" sz="1500" dirty="0"/>
          </a:p>
        </p:txBody>
      </p:sp>
      <p:sp>
        <p:nvSpPr>
          <p:cNvPr id="8" name="Text 5"/>
          <p:cNvSpPr txBox="1"/>
          <p:nvPr/>
        </p:nvSpPr>
        <p:spPr>
          <a:xfrm>
            <a:off x="6217920" y="1965960"/>
            <a:ext cx="539496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Front image required; left, back, right optional</a:t>
            </a:r>
            <a:endParaRPr lang="en-US" sz="1400" dirty="0"/>
          </a:p>
          <a:p>
            <a:pPr marL="342900" indent="-342900">
              <a:spcAft>
                <a:spcPts val="600"/>
              </a:spcAft>
              <a:buSzPct val="100000"/>
              <a:buChar char="•"/>
            </a:pPr>
            <a:r>
              <a:rPr lang="en-US" sz="1400" dirty="0">
                <a:solidFill>
                  <a:schemeClr val="tx1"/>
                </a:solidFill>
              </a:rPr>
              <a:t>Button: Generate 3D model</a:t>
            </a:r>
            <a:endParaRPr lang="en-US" sz="1400" dirty="0"/>
          </a:p>
          <a:p>
            <a:pPr marL="342900" indent="-342900">
              <a:spcAft>
                <a:spcPts val="600"/>
              </a:spcAft>
              <a:buSzPct val="100000"/>
              <a:buChar char="•"/>
            </a:pPr>
            <a:r>
              <a:rPr lang="en-US" sz="1400" dirty="0">
                <a:solidFill>
                  <a:schemeClr val="tx1"/>
                </a:solidFill>
              </a:rPr>
              <a:t>3D viewer, preview sheet, run summary</a:t>
            </a:r>
            <a:endParaRPr lang="en-US" sz="1400" dirty="0"/>
          </a:p>
          <a:p>
            <a:pPr marL="342900" indent="-342900">
              <a:spcAft>
                <a:spcPts val="600"/>
              </a:spcAft>
              <a:buSzPct val="100000"/>
              <a:buChar char="•"/>
            </a:pPr>
            <a:r>
              <a:rPr lang="en-US" sz="1400" dirty="0">
                <a:solidFill>
                  <a:schemeClr val="tx1"/>
                </a:solidFill>
              </a:rPr>
              <a:t>Downloads: GLB, OBJ, STL, JSON report</a:t>
            </a:r>
            <a:endParaRPr lang="en-US" sz="1400" dirty="0"/>
          </a:p>
        </p:txBody>
      </p:sp>
      <p:sp>
        <p:nvSpPr>
          <p:cNvPr id="9" name="Text 6"/>
          <p:cNvSpPr txBox="1"/>
          <p:nvPr/>
        </p:nvSpPr>
        <p:spPr>
          <a:xfrm>
            <a:off x="6217920" y="4206240"/>
            <a:ext cx="5394960" cy="1280160"/>
          </a:xfrm>
          <a:prstGeom prst="roundRect">
            <a:avLst>
              <a:gd name="adj" fmla="val 5714"/>
            </a:avLst>
          </a:prstGeom>
          <a:solidFill>
            <a:schemeClr val="bg2"/>
          </a:solidFill>
          <a:ln w="19050">
            <a:solidFill>
              <a:schemeClr val="accent3"/>
            </a:solidFill>
          </a:ln>
        </p:spPr>
        <p:txBody>
          <a:bodyPr wrap="square" lIns="762" tIns="762" rIns="762" bIns="762" rtlCol="0" anchor="ctr"/>
          <a:lstStyle/>
          <a:p>
            <a:pPr algn="ctr" indent="0" marL="0">
              <a:buNone/>
            </a:pPr>
            <a:r>
              <a:rPr lang="en-US" sz="1300" dirty="0">
                <a:solidFill>
                  <a:schemeClr val="tx1"/>
                </a:solidFill>
              </a:rPr>
              <a:t>Gradio is launched with share=True, a public link. Avoid sensitive images; this is not a secure deployment. The interface has not been demonstrated at runtime.</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2354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Batch Evaluation and Reporting</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3"/>
          </a:solidFill>
          <a:ln/>
        </p:spPr>
        <p:txBody>
          <a:bodyPr wrap="square" lIns="0" tIns="0" rIns="0" bIns="0" rtlCol="0" anchor="ctr"/>
          <a:lstStyle/>
          <a:p>
            <a:pPr algn="ctr" indent="0" marL="0">
              <a:buNone/>
            </a:pPr>
            <a:r>
              <a:rPr lang="en-US" sz="1000" b="1" dirty="0">
                <a:solidFill>
                  <a:schemeClr val="bg1"/>
                </a:solidFill>
              </a:rPr>
              <a:t>UNVERIFIED</a:t>
            </a:r>
            <a:endParaRPr lang="en-US" sz="1000" dirty="0"/>
          </a:p>
        </p:txBody>
      </p:sp>
      <p:sp>
        <p:nvSpPr>
          <p:cNvPr id="5" name="Text 2"/>
          <p:cNvSpPr txBox="1"/>
          <p:nvPr/>
        </p:nvSpPr>
        <p:spPr>
          <a:xfrm>
            <a:off x="548640" y="1554480"/>
            <a:ext cx="2514600" cy="1371600"/>
          </a:xfrm>
          <a:prstGeom prst="roundRect">
            <a:avLst>
              <a:gd name="adj" fmla="val 5333"/>
            </a:avLst>
          </a:prstGeom>
          <a:solidFill>
            <a:schemeClr val="accent1"/>
          </a:solidFill>
          <a:ln/>
        </p:spPr>
        <p:txBody>
          <a:bodyPr wrap="square" lIns="762" tIns="762" rIns="762" bIns="762" rtlCol="0" anchor="ctr"/>
          <a:lstStyle/>
          <a:p>
            <a:pPr algn="ctr" indent="0" marL="0">
              <a:buNone/>
            </a:pPr>
            <a:r>
              <a:rPr lang="en-US" sz="1300" dirty="0">
                <a:solidFill>
                  <a:schemeClr val="bg1"/>
                </a:solidFill>
              </a:rPr>
              <a:t>Test folder</a:t>
            </a:r>
            <a:endParaRPr lang="en-US" sz="1300" dirty="0"/>
          </a:p>
          <a:p>
            <a:pPr algn="ctr" indent="0" marL="0">
              <a:buNone/>
            </a:pPr>
            <a:r>
              <a:rPr lang="en-US" sz="1300" dirty="0">
                <a:solidFill>
                  <a:schemeClr val="bg1"/>
                </a:solidFill>
              </a:rPr>
              <a:t>loose images or per-object folders</a:t>
            </a:r>
            <a:endParaRPr lang="en-US" sz="1300" dirty="0"/>
          </a:p>
        </p:txBody>
      </p:sp>
      <p:sp>
        <p:nvSpPr>
          <p:cNvPr id="6" name="Shape 3"/>
          <p:cNvSpPr/>
          <p:nvPr/>
        </p:nvSpPr>
        <p:spPr>
          <a:xfrm>
            <a:off x="3090672" y="2240280"/>
            <a:ext cx="274320" cy="0"/>
          </a:xfrm>
          <a:prstGeom prst="line">
            <a:avLst/>
          </a:prstGeom>
          <a:noFill/>
          <a:ln w="22225">
            <a:solidFill>
              <a:schemeClr val="tx2"/>
            </a:solidFill>
            <a:prstDash val="solid"/>
            <a:tailEnd type="triangle"/>
          </a:ln>
        </p:spPr>
      </p:sp>
      <p:sp>
        <p:nvSpPr>
          <p:cNvPr id="7" name="Text 4"/>
          <p:cNvSpPr txBox="1"/>
          <p:nvPr/>
        </p:nvSpPr>
        <p:spPr>
          <a:xfrm>
            <a:off x="3383280" y="1554480"/>
            <a:ext cx="2514600" cy="1371600"/>
          </a:xfrm>
          <a:prstGeom prst="roundRect">
            <a:avLst>
              <a:gd name="adj" fmla="val 5333"/>
            </a:avLst>
          </a:prstGeom>
          <a:solidFill>
            <a:schemeClr val="accent1"/>
          </a:solidFill>
          <a:ln/>
        </p:spPr>
        <p:txBody>
          <a:bodyPr wrap="square" lIns="762" tIns="762" rIns="762" bIns="762" rtlCol="0" anchor="ctr"/>
          <a:lstStyle/>
          <a:p>
            <a:pPr algn="ctr" indent="0" marL="0">
              <a:buNone/>
            </a:pPr>
            <a:r>
              <a:rPr lang="en-US" sz="1300" dirty="0">
                <a:solidFill>
                  <a:schemeClr val="bg1"/>
                </a:solidFill>
              </a:rPr>
              <a:t>run_agent per object</a:t>
            </a:r>
            <a:endParaRPr lang="en-US" sz="1300" dirty="0"/>
          </a:p>
          <a:p>
            <a:pPr algn="ctr" indent="0" marL="0">
              <a:buNone/>
            </a:pPr>
            <a:r>
              <a:rPr lang="en-US" sz="1300" dirty="0">
                <a:solidFill>
                  <a:schemeClr val="bg1"/>
                </a:solidFill>
              </a:rPr>
              <a:t>single- or multi-view; failures logged</a:t>
            </a:r>
            <a:endParaRPr lang="en-US" sz="1300" dirty="0"/>
          </a:p>
        </p:txBody>
      </p:sp>
      <p:sp>
        <p:nvSpPr>
          <p:cNvPr id="8" name="Shape 5"/>
          <p:cNvSpPr/>
          <p:nvPr/>
        </p:nvSpPr>
        <p:spPr>
          <a:xfrm>
            <a:off x="5925312" y="2240280"/>
            <a:ext cx="274320" cy="0"/>
          </a:xfrm>
          <a:prstGeom prst="line">
            <a:avLst/>
          </a:prstGeom>
          <a:noFill/>
          <a:ln w="22225">
            <a:solidFill>
              <a:schemeClr val="tx2"/>
            </a:solidFill>
            <a:prstDash val="solid"/>
            <a:tailEnd type="triangle"/>
          </a:ln>
        </p:spPr>
      </p:sp>
      <p:sp>
        <p:nvSpPr>
          <p:cNvPr id="9" name="Text 6"/>
          <p:cNvSpPr txBox="1"/>
          <p:nvPr/>
        </p:nvSpPr>
        <p:spPr>
          <a:xfrm>
            <a:off x="6217920" y="1554480"/>
            <a:ext cx="2514600" cy="1371600"/>
          </a:xfrm>
          <a:prstGeom prst="roundRect">
            <a:avLst>
              <a:gd name="adj" fmla="val 5333"/>
            </a:avLst>
          </a:prstGeom>
          <a:solidFill>
            <a:schemeClr val="accent4"/>
          </a:solidFill>
          <a:ln/>
        </p:spPr>
        <p:txBody>
          <a:bodyPr wrap="square" lIns="762" tIns="762" rIns="762" bIns="762" rtlCol="0" anchor="ctr"/>
          <a:lstStyle/>
          <a:p>
            <a:pPr algn="ctr" indent="0" marL="0">
              <a:buNone/>
            </a:pPr>
            <a:r>
              <a:rPr lang="en-US" sz="1300" dirty="0">
                <a:solidFill>
                  <a:schemeClr val="bg1"/>
                </a:solidFill>
              </a:rPr>
              <a:t>evaluation.csv</a:t>
            </a:r>
            <a:endParaRPr lang="en-US" sz="1300" dirty="0"/>
          </a:p>
          <a:p>
            <a:pPr algn="ctr" indent="0" marL="0">
              <a:buNone/>
            </a:pPr>
            <a:r>
              <a:rPr lang="en-US" sz="1300" dirty="0">
                <a:solidFill>
                  <a:schemeClr val="bg1"/>
                </a:solidFill>
              </a:rPr>
              <a:t>object, mode, backend, IoU, faces, seconds, warnings</a:t>
            </a:r>
            <a:endParaRPr lang="en-US" sz="1300" dirty="0"/>
          </a:p>
        </p:txBody>
      </p:sp>
      <p:sp>
        <p:nvSpPr>
          <p:cNvPr id="10" name="Shape 7"/>
          <p:cNvSpPr/>
          <p:nvPr/>
        </p:nvSpPr>
        <p:spPr>
          <a:xfrm>
            <a:off x="8759952" y="2240280"/>
            <a:ext cx="274320" cy="0"/>
          </a:xfrm>
          <a:prstGeom prst="line">
            <a:avLst/>
          </a:prstGeom>
          <a:noFill/>
          <a:ln w="22225">
            <a:solidFill>
              <a:schemeClr val="tx2"/>
            </a:solidFill>
            <a:prstDash val="solid"/>
            <a:tailEnd type="triangle"/>
          </a:ln>
        </p:spPr>
      </p:sp>
      <p:sp>
        <p:nvSpPr>
          <p:cNvPr id="11" name="Text 8"/>
          <p:cNvSpPr txBox="1"/>
          <p:nvPr/>
        </p:nvSpPr>
        <p:spPr>
          <a:xfrm>
            <a:off x="9052560" y="1554480"/>
            <a:ext cx="2514600" cy="1371600"/>
          </a:xfrm>
          <a:prstGeom prst="roundRect">
            <a:avLst>
              <a:gd name="adj" fmla="val 5333"/>
            </a:avLst>
          </a:prstGeom>
          <a:solidFill>
            <a:schemeClr val="accent1"/>
          </a:solidFill>
          <a:ln/>
        </p:spPr>
        <p:txBody>
          <a:bodyPr wrap="square" lIns="762" tIns="762" rIns="762" bIns="762" rtlCol="0" anchor="ctr"/>
          <a:lstStyle/>
          <a:p>
            <a:pPr algn="ctr" indent="0" marL="0">
              <a:buNone/>
            </a:pPr>
            <a:r>
              <a:rPr lang="en-US" sz="1300" dirty="0">
                <a:solidFill>
                  <a:schemeClr val="bg1"/>
                </a:solidFill>
              </a:rPr>
              <a:t>Mean IoU by mode</a:t>
            </a:r>
            <a:endParaRPr lang="en-US" sz="1300" dirty="0"/>
          </a:p>
          <a:p>
            <a:pPr algn="ctr" indent="0" marL="0">
              <a:buNone/>
            </a:pPr>
            <a:r>
              <a:rPr lang="en-US" sz="1300" dirty="0">
                <a:solidFill>
                  <a:schemeClr val="bg1"/>
                </a:solidFill>
              </a:rPr>
              <a:t>printed summary</a:t>
            </a:r>
            <a:endParaRPr lang="en-US" sz="1300" dirty="0"/>
          </a:p>
        </p:txBody>
      </p:sp>
      <p:sp>
        <p:nvSpPr>
          <p:cNvPr id="12" name="Text 9"/>
          <p:cNvSpPr txBox="1"/>
          <p:nvPr/>
        </p:nvSpPr>
        <p:spPr>
          <a:xfrm>
            <a:off x="548640" y="3383280"/>
            <a:ext cx="5486400" cy="2286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Helps assess reliability across different objects</a:t>
            </a:r>
            <a:endParaRPr lang="en-US" sz="1600" dirty="0"/>
          </a:p>
          <a:p>
            <a:pPr marL="342900" indent="-342900">
              <a:spcAft>
                <a:spcPts val="600"/>
              </a:spcAft>
              <a:buSzPct val="100000"/>
              <a:buChar char="•"/>
            </a:pPr>
            <a:r>
              <a:rPr lang="en-US" sz="1600" dirty="0">
                <a:solidFill>
                  <a:schemeClr val="tx1"/>
                </a:solidFill>
              </a:rPr>
              <a:t>Uses silhouette IoU and run metadata only</a:t>
            </a:r>
            <a:endParaRPr lang="en-US" sz="1600" dirty="0"/>
          </a:p>
          <a:p>
            <a:pPr marL="342900" indent="-342900">
              <a:spcAft>
                <a:spcPts val="600"/>
              </a:spcAft>
              <a:buSzPct val="100000"/>
              <a:buChar char="•"/>
            </a:pPr>
            <a:r>
              <a:rPr lang="en-US" sz="1600" dirty="0">
                <a:solidFill>
                  <a:schemeClr val="tx1"/>
                </a:solidFill>
              </a:rPr>
              <a:t>Does not compare against ground-truth 3D models</a:t>
            </a:r>
            <a:endParaRPr lang="en-US" sz="1600" dirty="0"/>
          </a:p>
        </p:txBody>
      </p:sp>
      <p:sp>
        <p:nvSpPr>
          <p:cNvPr id="13" name="Text 10"/>
          <p:cNvSpPr txBox="1"/>
          <p:nvPr/>
        </p:nvSpPr>
        <p:spPr>
          <a:xfrm>
            <a:off x="6400800" y="3474720"/>
            <a:ext cx="5212080" cy="1188720"/>
          </a:xfrm>
          <a:prstGeom prst="roundRect">
            <a:avLst>
              <a:gd name="adj" fmla="val 6154"/>
            </a:avLst>
          </a:prstGeom>
          <a:solidFill>
            <a:schemeClr val="bg2"/>
          </a:solidFill>
          <a:ln w="19050">
            <a:solidFill>
              <a:schemeClr val="accent3"/>
            </a:solidFill>
          </a:ln>
        </p:spPr>
        <p:txBody>
          <a:bodyPr wrap="square" lIns="762" tIns="762" rIns="762" bIns="762" rtlCol="0" anchor="ctr"/>
          <a:lstStyle/>
          <a:p>
            <a:pPr algn="ctr" indent="0" marL="0">
              <a:buNone/>
            </a:pPr>
            <a:r>
              <a:rPr lang="en-US" sz="1500" dirty="0">
                <a:solidFill>
                  <a:schemeClr val="tx1"/>
                </a:solidFill>
              </a:rPr>
              <a:t>No verified evaluation dataset yet. No dataset size, mean IoU, success rate or runtime is claimed.</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2354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Implementation Status and Validation</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1"/>
          </a:solidFill>
          <a:ln/>
        </p:spPr>
        <p:txBody>
          <a:bodyPr wrap="square" lIns="0" tIns="0" rIns="0" bIns="0" rtlCol="0" anchor="ctr"/>
          <a:lstStyle/>
          <a:p>
            <a:pPr algn="ctr" indent="0" marL="0">
              <a:buNone/>
            </a:pPr>
            <a:r>
              <a:rPr lang="en-US" sz="1000" b="1" dirty="0">
                <a:solidFill>
                  <a:schemeClr val="bg1"/>
                </a:solidFill>
              </a:rPr>
              <a:t>ONE RUN OBSERVED</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914400"/>
        </p:xfrm>
        <a:graphic>
          <a:graphicData uri="http://schemas.openxmlformats.org/drawingml/2006/table">
            <a:tbl>
              <a:tblPr/>
              <a:tblGrid>
                <a:gridCol w="2651760"/>
                <a:gridCol w="4114800"/>
              </a:tblGrid>
              <a:tr h="566928">
                <a:tc>
                  <a:txBody>
                    <a:bodyPr/>
                    <a:lstStyle/>
                    <a:p>
                      <a:pPr indent="0" marL="0">
                        <a:buNone/>
                      </a:pPr>
                      <a:r>
                        <a:rPr lang="en-US" sz="1200" b="1" dirty="0">
                          <a:solidFill>
                            <a:schemeClr val="bg1"/>
                          </a:solidFill>
                        </a:rPr>
                        <a:t>Component</a:t>
                      </a:r>
                      <a:endParaRPr lang="en-US" sz="12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Status</a:t>
                      </a:r>
                      <a:endParaRPr lang="en-US" sz="12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r>
              <a:tr h="566928">
                <a:tc>
                  <a:txBody>
                    <a:bodyPr/>
                    <a:lstStyle/>
                    <a:p>
                      <a:pPr indent="0" marL="0">
                        <a:buNone/>
                      </a:pPr>
                      <a:r>
                        <a:rPr lang="en-US" sz="1200" dirty="0">
                          <a:solidFill>
                            <a:schemeClr val="tx1"/>
                          </a:solidFill>
                        </a:rPr>
                        <a:t>Preprocessing and image analysis</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Implemented; synthetic-data testing reported in notebook</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566928">
                <a:tc>
                  <a:txBody>
                    <a:bodyPr/>
                    <a:lstStyle/>
                    <a:p>
                      <a:pPr indent="0" marL="0">
                        <a:buNone/>
                      </a:pPr>
                      <a:r>
                        <a:rPr lang="en-US" sz="1200" dirty="0">
                          <a:solidFill>
                            <a:schemeClr val="tx1"/>
                          </a:solidFill>
                        </a:rPr>
                        <a:t>Agent loop and fallback</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Implemented; tested with fake backends (component level)</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566928">
                <a:tc>
                  <a:txBody>
                    <a:bodyPr/>
                    <a:lstStyle/>
                    <a:p>
                      <a:pPr indent="0" marL="0">
                        <a:buNone/>
                      </a:pPr>
                      <a:r>
                        <a:rPr lang="en-US" sz="1200" dirty="0">
                          <a:solidFill>
                            <a:schemeClr val="tx1"/>
                          </a:solidFill>
                        </a:rPr>
                        <a:t>Pretrained model integration</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Source present; one output set observed, run log not recorded</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566928">
                <a:tc>
                  <a:txBody>
                    <a:bodyPr/>
                    <a:lstStyle/>
                    <a:p>
                      <a:pPr indent="0" marL="0">
                        <a:buNone/>
                      </a:pPr>
                      <a:r>
                        <a:rPr lang="en-US" sz="1200" dirty="0">
                          <a:solidFill>
                            <a:schemeClr val="tx1"/>
                          </a:solidFill>
                        </a:rPr>
                        <a:t>3D generation and export</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One mesh and preview observed (chair); other files unverified</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566928">
                <a:tc>
                  <a:txBody>
                    <a:bodyPr/>
                    <a:lstStyle/>
                    <a:p>
                      <a:pPr indent="0" marL="0">
                        <a:buNone/>
                      </a:pPr>
                      <a:r>
                        <a:rPr lang="en-US" sz="1200" dirty="0">
                          <a:solidFill>
                            <a:schemeClr val="tx1"/>
                          </a:solidFill>
                        </a:rPr>
                        <a:t>Silhouette scoring</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Implemented; metric limits apply</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566928">
                <a:tc>
                  <a:txBody>
                    <a:bodyPr/>
                    <a:lstStyle/>
                    <a:p>
                      <a:pPr indent="0" marL="0">
                        <a:buNone/>
                      </a:pPr>
                      <a:r>
                        <a:rPr lang="en-US" sz="1200" dirty="0">
                          <a:solidFill>
                            <a:schemeClr val="tx1"/>
                          </a:solidFill>
                        </a:rPr>
                        <a:t>Gradio interface</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In notebook; runtime not demonstrated</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566928">
                <a:tc>
                  <a:txBody>
                    <a:bodyPr/>
                    <a:lstStyle/>
                    <a:p>
                      <a:pPr indent="0" marL="0">
                        <a:buNone/>
                      </a:pPr>
                      <a:r>
                        <a:rPr lang="en-US" sz="1200" dirty="0">
                          <a:solidFill>
                            <a:schemeClr val="tx1"/>
                          </a:solidFill>
                        </a:rPr>
                        <a:t>Batch evaluation</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200" dirty="0">
                          <a:solidFill>
                            <a:schemeClr val="tx1"/>
                          </a:solidFill>
                        </a:rPr>
                        <a:t>Function present; no results yet</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bl>
          </a:graphicData>
        </a:graphic>
      </p:graphicFrame>
      <p:sp>
        <p:nvSpPr>
          <p:cNvPr id="6" name="Text 2"/>
          <p:cNvSpPr txBox="1"/>
          <p:nvPr/>
        </p:nvSpPr>
        <p:spPr>
          <a:xfrm>
            <a:off x="7680960" y="1325880"/>
            <a:ext cx="3931920" cy="365760"/>
          </a:xfrm>
          <a:prstGeom prst="rect">
            <a:avLst/>
          </a:prstGeom>
          <a:noFill/>
          <a:ln/>
        </p:spPr>
        <p:txBody>
          <a:bodyPr wrap="square" lIns="0" tIns="0" rIns="0" bIns="0" rtlCol="0" anchor="t"/>
          <a:lstStyle/>
          <a:p>
            <a:pPr indent="0" marL="0">
              <a:buNone/>
            </a:pPr>
            <a:r>
              <a:rPr lang="en-US" sz="1600" b="1" dirty="0">
                <a:solidFill>
                  <a:schemeClr val="accent5"/>
                </a:solidFill>
              </a:rPr>
              <a:t>Current limitations</a:t>
            </a:r>
            <a:endParaRPr lang="en-US" sz="1600" dirty="0"/>
          </a:p>
        </p:txBody>
      </p:sp>
      <p:sp>
        <p:nvSpPr>
          <p:cNvPr id="7" name="Text 3"/>
          <p:cNvSpPr txBox="1"/>
          <p:nvPr/>
        </p:nvSpPr>
        <p:spPr>
          <a:xfrm>
            <a:off x="7680960" y="1783080"/>
            <a:ext cx="3931920" cy="43891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Quality depends on photo and backend</a:t>
            </a:r>
            <a:endParaRPr lang="en-US" sz="1300" dirty="0"/>
          </a:p>
          <a:p>
            <a:pPr marL="342900" indent="-342900">
              <a:spcAft>
                <a:spcPts val="600"/>
              </a:spcAft>
              <a:buSzPct val="100000"/>
              <a:buChar char="•"/>
            </a:pPr>
            <a:r>
              <a:rPr lang="en-US" sz="1300" dirty="0">
                <a:solidFill>
                  <a:schemeClr val="tx1"/>
                </a:solidFill>
              </a:rPr>
              <a:t>Hidden surfaces cannot be observed from one view</a:t>
            </a:r>
            <a:endParaRPr lang="en-US" sz="1300" dirty="0"/>
          </a:p>
          <a:p>
            <a:pPr marL="342900" indent="-342900">
              <a:spcAft>
                <a:spcPts val="600"/>
              </a:spcAft>
              <a:buSzPct val="100000"/>
              <a:buChar char="•"/>
            </a:pPr>
            <a:r>
              <a:rPr lang="en-US" sz="1300" dirty="0">
                <a:solidFill>
                  <a:schemeClr val="tx1"/>
                </a:solidFill>
              </a:rPr>
              <a:t>IoU is not a full 3D accuracy measure</a:t>
            </a:r>
            <a:endParaRPr lang="en-US" sz="1300" dirty="0"/>
          </a:p>
          <a:p>
            <a:pPr marL="342900" indent="-342900">
              <a:spcAft>
                <a:spcPts val="600"/>
              </a:spcAft>
              <a:buSzPct val="100000"/>
              <a:buChar char="•"/>
            </a:pPr>
            <a:r>
              <a:rPr lang="en-US" sz="1300" dirty="0">
                <a:solidFill>
                  <a:schemeClr val="tx1"/>
                </a:solidFill>
              </a:rPr>
              <a:t>Cleanup and colour are best effort</a:t>
            </a:r>
            <a:endParaRPr lang="en-US" sz="1300" dirty="0"/>
          </a:p>
          <a:p>
            <a:pPr marL="342900" indent="-342900">
              <a:spcAft>
                <a:spcPts val="600"/>
              </a:spcAft>
              <a:buSzPct val="100000"/>
              <a:buChar char="•"/>
            </a:pPr>
            <a:r>
              <a:rPr lang="en-US" sz="1300" dirty="0">
                <a:solidFill>
                  <a:schemeClr val="tx1"/>
                </a:solidFill>
              </a:rPr>
              <a:t>GPU memory, dependencies and downloads can break a run</a:t>
            </a:r>
            <a:endParaRPr lang="en-US" sz="1300" dirty="0"/>
          </a:p>
          <a:p>
            <a:pPr marL="342900" indent="-342900">
              <a:spcAft>
                <a:spcPts val="600"/>
              </a:spcAft>
              <a:buSzPct val="100000"/>
              <a:buChar char="•"/>
            </a:pPr>
            <a:r>
              <a:rPr lang="en-US" sz="1300" dirty="0">
                <a:solidFill>
                  <a:schemeClr val="tx1"/>
                </a:solidFill>
              </a:rPr>
              <a:t>Saved notebook copy shows only a no-GPU error in cell 1</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2354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Future Work and Conclusion</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6"/>
          </a:solidFill>
          <a:ln/>
        </p:spPr>
        <p:txBody>
          <a:bodyPr wrap="square" lIns="0" tIns="0" rIns="0" bIns="0" rtlCol="0" anchor="ctr"/>
          <a:lstStyle/>
          <a:p>
            <a:pPr algn="ctr" indent="0" marL="0">
              <a:buNone/>
            </a:pPr>
            <a:r>
              <a:rPr lang="en-US" sz="1000" b="1" dirty="0">
                <a:solidFill>
                  <a:schemeClr val="bg1"/>
                </a:solidFill>
              </a:rPr>
              <a:t>CONCEPT</a:t>
            </a:r>
            <a:endParaRPr lang="en-US" sz="1000" dirty="0"/>
          </a:p>
        </p:txBody>
      </p:sp>
      <p:sp>
        <p:nvSpPr>
          <p:cNvPr id="5" name="Text 2"/>
          <p:cNvSpPr txBox="1"/>
          <p:nvPr/>
        </p:nvSpPr>
        <p:spPr>
          <a:xfrm>
            <a:off x="548640" y="1371600"/>
            <a:ext cx="5852160" cy="365760"/>
          </a:xfrm>
          <a:prstGeom prst="rect">
            <a:avLst/>
          </a:prstGeom>
          <a:noFill/>
          <a:ln/>
        </p:spPr>
        <p:txBody>
          <a:bodyPr wrap="square" lIns="0" tIns="0" rIns="0" bIns="0" rtlCol="0" anchor="t"/>
          <a:lstStyle/>
          <a:p>
            <a:pPr indent="0" marL="0">
              <a:buNone/>
            </a:pPr>
            <a:r>
              <a:rPr lang="en-US" sz="1600" b="1" dirty="0">
                <a:solidFill>
                  <a:schemeClr val="tx1"/>
                </a:solidFill>
              </a:rPr>
              <a:t>Future work (not yet done)</a:t>
            </a:r>
            <a:endParaRPr lang="en-US" sz="1600" dirty="0"/>
          </a:p>
        </p:txBody>
      </p:sp>
      <p:sp>
        <p:nvSpPr>
          <p:cNvPr id="6" name="Text 3"/>
          <p:cNvSpPr txBox="1"/>
          <p:nvPr/>
        </p:nvSpPr>
        <p:spPr>
          <a:xfrm>
            <a:off x="548640" y="1828800"/>
            <a:ext cx="5852160" cy="4389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Run the full notebook on a GPU; save outputs and error logs</a:t>
            </a:r>
            <a:endParaRPr lang="en-US" sz="1400" dirty="0"/>
          </a:p>
          <a:p>
            <a:pPr marL="342900" indent="-342900">
              <a:spcAft>
                <a:spcPts val="600"/>
              </a:spcAft>
              <a:buSzPct val="100000"/>
              <a:buChar char="•"/>
            </a:pPr>
            <a:r>
              <a:rPr lang="en-US" sz="1400" dirty="0">
                <a:solidFill>
                  <a:schemeClr val="tx1"/>
                </a:solidFill>
              </a:rPr>
              <a:t>Test a documented single- and multi-view image set</a:t>
            </a:r>
            <a:endParaRPr lang="en-US" sz="1400" dirty="0"/>
          </a:p>
          <a:p>
            <a:pPr marL="342900" indent="-342900">
              <a:spcAft>
                <a:spcPts val="600"/>
              </a:spcAft>
              <a:buSzPct val="100000"/>
              <a:buChar char="•"/>
            </a:pPr>
            <a:r>
              <a:rPr lang="en-US" sz="1400" dirty="0">
                <a:solidFill>
                  <a:schemeClr val="tx1"/>
                </a:solidFill>
              </a:rPr>
              <a:t>Compare backends under controlled conditions</a:t>
            </a:r>
            <a:endParaRPr lang="en-US" sz="1400" dirty="0"/>
          </a:p>
          <a:p>
            <a:pPr marL="342900" indent="-342900">
              <a:spcAft>
                <a:spcPts val="600"/>
              </a:spcAft>
              <a:buSzPct val="100000"/>
              <a:buChar char="•"/>
            </a:pPr>
            <a:r>
              <a:rPr lang="en-US" sz="1400" dirty="0">
                <a:solidFill>
                  <a:schemeClr val="tx1"/>
                </a:solidFill>
              </a:rPr>
              <a:t>Evaluate single- vs multi-view input</a:t>
            </a:r>
            <a:endParaRPr lang="en-US" sz="1400" dirty="0"/>
          </a:p>
          <a:p>
            <a:pPr marL="342900" indent="-342900">
              <a:spcAft>
                <a:spcPts val="600"/>
              </a:spcAft>
              <a:buSzPct val="100000"/>
              <a:buChar char="•"/>
            </a:pPr>
            <a:r>
              <a:rPr lang="en-US" sz="1400" dirty="0">
                <a:solidFill>
                  <a:schemeClr val="tx1"/>
                </a:solidFill>
              </a:rPr>
              <a:t>Add ground-truth 3D metrics (e.g. Chamfer, F-score) if references exist</a:t>
            </a:r>
            <a:endParaRPr lang="en-US" sz="1400" dirty="0"/>
          </a:p>
          <a:p>
            <a:pPr marL="342900" indent="-342900">
              <a:spcAft>
                <a:spcPts val="600"/>
              </a:spcAft>
              <a:buSzPct val="100000"/>
              <a:buChar char="•"/>
            </a:pPr>
            <a:r>
              <a:rPr lang="en-US" sz="1400" dirty="0">
                <a:solidFill>
                  <a:schemeClr val="tx1"/>
                </a:solidFill>
              </a:rPr>
              <a:t>Record memory, runtime, failure rate, mesh complexity</a:t>
            </a:r>
            <a:endParaRPr lang="en-US" sz="1400" dirty="0"/>
          </a:p>
          <a:p>
            <a:pPr marL="342900" indent="-342900">
              <a:spcAft>
                <a:spcPts val="600"/>
              </a:spcAft>
              <a:buSzPct val="100000"/>
              <a:buChar char="•"/>
            </a:pPr>
            <a:r>
              <a:rPr lang="en-US" sz="1400" dirty="0">
                <a:solidFill>
                  <a:schemeClr val="tx1"/>
                </a:solidFill>
              </a:rPr>
              <a:t>Improve segmentation, orientation and colour projection</a:t>
            </a:r>
            <a:endParaRPr lang="en-US" sz="1400" dirty="0"/>
          </a:p>
          <a:p>
            <a:pPr marL="342900" indent="-342900">
              <a:spcAft>
                <a:spcPts val="600"/>
              </a:spcAft>
              <a:buSzPct val="100000"/>
              <a:buChar char="•"/>
            </a:pPr>
            <a:r>
              <a:rPr lang="en-US" sz="1400" dirty="0">
                <a:solidFill>
                  <a:schemeClr val="tx1"/>
                </a:solidFill>
              </a:rPr>
              <a:t>Validate mesh integrity in downstream tools</a:t>
            </a:r>
            <a:endParaRPr lang="en-US" sz="1400" dirty="0"/>
          </a:p>
        </p:txBody>
      </p:sp>
      <p:sp>
        <p:nvSpPr>
          <p:cNvPr id="7" name="Text 4"/>
          <p:cNvSpPr txBox="1"/>
          <p:nvPr/>
        </p:nvSpPr>
        <p:spPr>
          <a:xfrm>
            <a:off x="6766560" y="1463040"/>
            <a:ext cx="4846320" cy="3566160"/>
          </a:xfrm>
          <a:prstGeom prst="roundRect">
            <a:avLst>
              <a:gd name="adj" fmla="val 2051"/>
            </a:avLst>
          </a:prstGeom>
          <a:solidFill>
            <a:schemeClr val="tx1"/>
          </a:solidFill>
          <a:ln/>
        </p:spPr>
        <p:txBody>
          <a:bodyPr wrap="square" lIns="3175" tIns="3175" rIns="3175" bIns="3175" rtlCol="0" anchor="t"/>
          <a:lstStyle/>
          <a:p>
            <a:pPr algn="l" indent="0" marL="0">
              <a:buNone/>
            </a:pPr>
            <a:r>
              <a:rPr lang="en-US" sz="1500" dirty="0">
                <a:solidFill>
                  <a:schemeClr val="bg1"/>
                </a:solidFill>
              </a:rPr>
              <a:t>Conclusion</a:t>
            </a:r>
            <a:endParaRPr lang="en-US" sz="1500" dirty="0"/>
          </a:p>
          <a:p>
            <a:pPr algn="l" indent="0" marL="0">
              <a:buNone/>
            </a:pPr>
            <a:endParaRPr lang="en-US" sz="1500" dirty="0"/>
          </a:p>
          <a:p>
            <a:pPr algn="l" indent="0" marL="0">
              <a:buNone/>
            </a:pPr>
            <a:r>
              <a:rPr lang="en-US" sz="1500" dirty="0">
                <a:solidFill>
                  <a:schemeClr val="bg1"/>
                </a:solidFill>
              </a:rPr>
              <a:t>An automated pipeline combining pretrained 3D generation, conditional backend selection, candidate scoring, mesh cleanup and export.</a:t>
            </a:r>
            <a:endParaRPr lang="en-US" sz="1500" dirty="0"/>
          </a:p>
          <a:p>
            <a:pPr algn="l" indent="0" marL="0">
              <a:buNone/>
            </a:pPr>
            <a:endParaRPr lang="en-US" sz="1500" dirty="0"/>
          </a:p>
          <a:p>
            <a:pPr algn="l" indent="0" marL="0">
              <a:buNone/>
            </a:pPr>
            <a:r>
              <a:rPr lang="en-US" sz="1500" dirty="0">
                <a:solidFill>
                  <a:schemeClr val="bg1"/>
                </a:solidFill>
              </a:rPr>
              <a:t>The engineering contribution is the orchestration and evaluation workflow around existing models, not a new 3D foundation model.</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5303520" cy="1371600"/>
          </a:xfrm>
          <a:prstGeom prst="rect">
            <a:avLst/>
          </a:prstGeom>
          <a:noFill/>
          <a:ln/>
        </p:spPr>
        <p:txBody>
          <a:bodyPr wrap="square" lIns="0" tIns="0" rIns="0" bIns="0" rtlCol="0" anchor="t"/>
          <a:lstStyle/>
          <a:p>
            <a:pPr algn="l" indent="0" marL="0">
              <a:buNone/>
            </a:pPr>
            <a:r>
              <a:rPr lang="en-US" sz="3800" b="1" dirty="0">
                <a:solidFill>
                  <a:schemeClr val="bg1"/>
                </a:solidFill>
                <a:latin typeface="Cambria" pitchFamily="34" charset="0"/>
                <a:ea typeface="Cambria" pitchFamily="34" charset="-122"/>
                <a:cs typeface="Cambria" pitchFamily="34" charset="-120"/>
              </a:rPr>
              <a:t>References and Questions</a:t>
            </a:r>
            <a:endParaRPr lang="en-US" sz="3800" dirty="0"/>
          </a:p>
        </p:txBody>
      </p:sp>
      <p:sp>
        <p:nvSpPr>
          <p:cNvPr id="4" name="Text 1"/>
          <p:cNvSpPr txBox="1"/>
          <p:nvPr/>
        </p:nvSpPr>
        <p:spPr>
          <a:xfrm>
            <a:off x="548640" y="2377440"/>
            <a:ext cx="5120640" cy="1645920"/>
          </a:xfrm>
          <a:prstGeom prst="rect">
            <a:avLst/>
          </a:prstGeom>
          <a:noFill/>
          <a:ln/>
        </p:spPr>
        <p:txBody>
          <a:bodyPr wrap="square" lIns="0" tIns="0" rIns="0" bIns="0" rtlCol="0" anchor="t"/>
          <a:lstStyle/>
          <a:p>
            <a:pPr indent="0" marL="0">
              <a:buNone/>
            </a:pPr>
            <a:r>
              <a:rPr lang="en-US" sz="3000" b="1" dirty="0">
                <a:solidFill>
                  <a:schemeClr val="accent2"/>
                </a:solidFill>
              </a:rPr>
              <a:t>Questions?</a:t>
            </a:r>
            <a:endParaRPr lang="en-US" sz="3000" dirty="0"/>
          </a:p>
          <a:p>
            <a:pPr indent="0" marL="0">
              <a:buNone/>
            </a:pPr>
            <a:r>
              <a:rPr lang="en-US" sz="1400" dirty="0">
                <a:solidFill>
                  <a:schemeClr val="bg1"/>
                </a:solidFill>
              </a:rPr>
              <a:t>Thank you. Anshuman Rai and Anany Sharma, guided by Prof. Kirti Sharma.</a:t>
            </a:r>
            <a:endParaRPr lang="en-US" sz="3000" dirty="0"/>
          </a:p>
        </p:txBody>
      </p:sp>
      <p:sp>
        <p:nvSpPr>
          <p:cNvPr id="5" name="Text 2"/>
          <p:cNvSpPr txBox="1"/>
          <p:nvPr/>
        </p:nvSpPr>
        <p:spPr>
          <a:xfrm>
            <a:off x="6035040" y="640080"/>
            <a:ext cx="5577840" cy="5486400"/>
          </a:xfrm>
          <a:prstGeom prst="rect">
            <a:avLst/>
          </a:prstGeom>
          <a:noFill/>
          <a:ln/>
        </p:spPr>
        <p:txBody>
          <a:bodyPr wrap="square" lIns="0" tIns="0" rIns="0" bIns="0" rtlCol="0" anchor="t"/>
          <a:lstStyle/>
          <a:p>
            <a:pPr indent="0" marL="0">
              <a:spcAft>
                <a:spcPts val="600"/>
              </a:spcAft>
              <a:buNone/>
            </a:pPr>
            <a:r>
              <a:rPr lang="en-US" sz="1200" dirty="0">
                <a:solidFill>
                  <a:schemeClr val="bg1"/>
                </a:solidFill>
              </a:rPr>
              <a:t>[1] Z. Zhao et al., "Hunyuan3D 2.0: Scaling diffusion models for high resolution textured 3D assets generation," arXiv:2501.12202, 2025.</a:t>
            </a:r>
            <a:endParaRPr lang="en-US" sz="1200" dirty="0"/>
          </a:p>
          <a:p>
            <a:pPr indent="0" marL="0">
              <a:spcAft>
                <a:spcPts val="600"/>
              </a:spcAft>
              <a:buNone/>
            </a:pPr>
            <a:r>
              <a:rPr lang="en-US" sz="1200" dirty="0">
                <a:solidFill>
                  <a:schemeClr val="bg1"/>
                </a:solidFill>
              </a:rPr>
              <a:t>[2] D. Tochilkin et al., "TripoSR: Fast 3D object reconstruction from a single image," arXiv:2403.02151, 2024.</a:t>
            </a:r>
            <a:endParaRPr lang="en-US" sz="1200" dirty="0"/>
          </a:p>
          <a:p>
            <a:pPr indent="0" marL="0">
              <a:spcAft>
                <a:spcPts val="600"/>
              </a:spcAft>
              <a:buNone/>
            </a:pPr>
            <a:r>
              <a:rPr lang="en-US" sz="1200" dirty="0">
                <a:solidFill>
                  <a:schemeClr val="bg1"/>
                </a:solidFill>
              </a:rPr>
              <a:t>[3] Tencent-Hunyuan, "Hunyuan3D-2," GitHub. github.com/Tencent-Hunyuan/Hunyuan3D-2; models tencent/Hunyuan3D-2mini, -2mv (Hugging Face).</a:t>
            </a:r>
            <a:endParaRPr lang="en-US" sz="1200" dirty="0"/>
          </a:p>
          <a:p>
            <a:pPr indent="0" marL="0">
              <a:spcAft>
                <a:spcPts val="600"/>
              </a:spcAft>
              <a:buNone/>
            </a:pPr>
            <a:r>
              <a:rPr lang="en-US" sz="1200" dirty="0">
                <a:solidFill>
                  <a:schemeClr val="bg1"/>
                </a:solidFill>
              </a:rPr>
              <a:t>[4] VAST-AI-Research, "TripoSR," GitHub. github.com/VAST-AI-Research/TripoSR; model stabilityai/TripoSR (Hugging Face).</a:t>
            </a:r>
            <a:endParaRPr lang="en-US" sz="1200" dirty="0"/>
          </a:p>
          <a:p>
            <a:pPr indent="0" marL="0">
              <a:spcAft>
                <a:spcPts val="600"/>
              </a:spcAft>
              <a:buNone/>
            </a:pPr>
            <a:r>
              <a:rPr lang="en-US" sz="1200" dirty="0">
                <a:solidFill>
                  <a:schemeClr val="bg1"/>
                </a:solidFill>
              </a:rPr>
              <a:t>[5] A. Paszke et al., "PyTorch: An imperative style, high-performance deep learning library," NeurIPS 32, 2019.</a:t>
            </a:r>
            <a:endParaRPr lang="en-US" sz="1200" dirty="0"/>
          </a:p>
          <a:p>
            <a:pPr indent="0" marL="0">
              <a:spcAft>
                <a:spcPts val="600"/>
              </a:spcAft>
              <a:buNone/>
            </a:pPr>
            <a:r>
              <a:rPr lang="en-US" sz="1200" dirty="0">
                <a:solidFill>
                  <a:schemeClr val="bg1"/>
                </a:solidFill>
              </a:rPr>
              <a:t>[6] A. Abid et al., "Gradio: Hassle-free sharing and testing of ML models in the wild," arXiv:1906.02569, 2019.</a:t>
            </a:r>
            <a:endParaRPr lang="en-US" sz="1200" dirty="0"/>
          </a:p>
          <a:p>
            <a:pPr indent="0" marL="0">
              <a:spcAft>
                <a:spcPts val="600"/>
              </a:spcAft>
              <a:buNone/>
            </a:pPr>
            <a:r>
              <a:rPr lang="en-US" sz="1200" dirty="0">
                <a:solidFill>
                  <a:schemeClr val="bg1"/>
                </a:solidFill>
              </a:rPr>
              <a:t>[7] Trimesh (github.com/mikedh/trimesh); rembg (github.com/danielgatis/rembg), software documentation.</a:t>
            </a:r>
            <a:endParaRPr lang="en-US" sz="1200" dirty="0"/>
          </a:p>
          <a:p>
            <a:pPr indent="0" marL="0">
              <a:spcAft>
                <a:spcPts val="600"/>
              </a:spcAft>
              <a:buNone/>
            </a:pPr>
            <a:r>
              <a:rPr lang="en-US" sz="1200" dirty="0">
                <a:solidFill>
                  <a:schemeClr val="bg1"/>
                </a:solidFill>
              </a:rPr>
              <a:t>[8] P. Jaccard, "The distribution of the flora in the alpine zone," New Phytologist, vol. 11, no. 2, pp. 37-50, 1912.</a:t>
            </a:r>
            <a:endParaRPr lang="en-US" sz="1200" dirty="0"/>
          </a:p>
        </p:txBody>
      </p:sp>
      <p:sp>
        <p:nvSpPr>
          <p:cNvPr id="6" name="Text 3"/>
          <p:cNvSpPr txBox="1"/>
          <p:nvPr/>
        </p:nvSpPr>
        <p:spPr>
          <a:xfrm>
            <a:off x="548640" y="5852160"/>
            <a:ext cx="5120640" cy="457200"/>
          </a:xfrm>
          <a:prstGeom prst="rect">
            <a:avLst/>
          </a:prstGeom>
          <a:noFill/>
          <a:ln/>
        </p:spPr>
        <p:txBody>
          <a:bodyPr wrap="square" lIns="0" tIns="0" rIns="0" bIns="0" rtlCol="0" anchor="t"/>
          <a:lstStyle/>
          <a:p>
            <a:pPr indent="0" marL="0">
              <a:buNone/>
            </a:pPr>
            <a:r>
              <a:rPr lang="en-US" sz="1200" dirty="0">
                <a:solidFill>
                  <a:schemeClr val="bg2"/>
                </a:solidFill>
              </a:rPr>
              <a:t>Licences: check each model card before redistribution or commercial use.</a:t>
            </a:r>
            <a:endParaRPr lang="en-US" sz="1200" dirty="0"/>
          </a:p>
        </p:txBody>
      </p:sp>
    </p:spTree>
  </p:cSld>
  <p:clrMapOvr>
    <a:masterClrMapping/>
  </p:clrMapOvr>
</p:sld>
</file>

<file path=ppt/theme/theme1.xml><?xml version="1.0" encoding="utf-8"?>
<a:theme xmlns:a="http://schemas.openxmlformats.org/drawingml/2006/main" name="Mesh Agent">
  <a:themeElements>
    <a:clrScheme name="Mesh Agent">
      <a:dk1>
        <a:srgbClr val="0F172A"/>
      </a:dk1>
      <a:lt1>
        <a:srgbClr val="FFFFFF"/>
      </a:lt1>
      <a:dk2>
        <a:srgbClr val="475569"/>
      </a:dk2>
      <a:lt2>
        <a:srgbClr val="EEF1F8"/>
      </a:lt2>
      <a:accent1>
        <a:srgbClr val="5B4BDB"/>
      </a:accent1>
      <a:accent2>
        <a:srgbClr val="0E9EC0"/>
      </a:accent2>
      <a:accent3>
        <a:srgbClr val="B45309"/>
      </a:accent3>
      <a:accent4>
        <a:srgbClr val="15803D"/>
      </a:accent4>
      <a:accent5>
        <a:srgbClr val="BE3A1D"/>
      </a:accent5>
      <a:accent6>
        <a:srgbClr val="64748B"/>
      </a:accent6>
      <a:hlink>
        <a:srgbClr val="5B4BDB"/>
      </a:hlink>
      <a:folHlink>
        <a:srgbClr val="64748B"/>
      </a:folHlink>
    </a:clrScheme>
    <a:fontScheme name="Mesh Ag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Image-to-3D Mesh Agent</dc:title>
  <dc:subject>PptxGenJS Presentation</dc:subject>
  <dc:creator>Anshuman Rai, Anany Sharma</dc:creator>
  <cp:lastModifiedBy>Anshuman Rai, Anany Sharma</cp:lastModifiedBy>
  <cp:revision>1</cp:revision>
  <dcterms:created xsi:type="dcterms:W3CDTF">2026-10-29T04:30:15Z</dcterms:created>
  <dcterms:modified xsi:type="dcterms:W3CDTF">2026-10-29T04:30:15Z</dcterms:modified>
</cp:coreProperties>
</file>